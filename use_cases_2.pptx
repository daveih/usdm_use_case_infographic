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7"/>
  </p:notesMasterIdLst>
  <p:sldIdLst>
    <p:sldId id="256" r:id="rId5"/>
    <p:sldId id="257" r:id="rId6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ED2759"/>
    <a:srgbClr val="002E99"/>
    <a:srgbClr val="2C7BBB"/>
    <a:srgbClr val="BE8B01"/>
    <a:srgbClr val="C59001"/>
    <a:srgbClr val="F5B400"/>
    <a:srgbClr val="D7766F"/>
    <a:srgbClr val="D74A63"/>
    <a:srgbClr val="D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70"/>
    <p:restoredTop sz="96301"/>
  </p:normalViewPr>
  <p:slideViewPr>
    <p:cSldViewPr snapToGrid="0">
      <p:cViewPr>
        <p:scale>
          <a:sx n="30" d="100"/>
          <a:sy n="30" d="100"/>
        </p:scale>
        <p:origin x="1816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F7372-8583-3647-8A6D-8602282481EA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0D0C2-CB94-FC4D-B785-D412270B0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49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1pPr>
    <a:lvl2pPr marL="496473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2pPr>
    <a:lvl3pPr marL="992947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3pPr>
    <a:lvl4pPr marL="1489420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4pPr>
    <a:lvl5pPr marL="1985894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5pPr>
    <a:lvl6pPr marL="2482367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6pPr>
    <a:lvl7pPr marL="2978841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7pPr>
    <a:lvl8pPr marL="3475314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8pPr>
    <a:lvl9pPr marL="3971788" algn="l" defTabSz="992947" rtl="0" eaLnBrk="1" latinLnBrk="0" hangingPunct="1">
      <a:defRPr sz="13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70D0C2-CB94-FC4D-B785-D412270B03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70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0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339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87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55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11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501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73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925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88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00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72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997AF5-C9B8-654C-B523-B4077F0C4FC6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B4923-C855-3644-852E-136272CE1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32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 232" descr="A logo for a company&#10;&#10;Description automatically generated">
            <a:extLst>
              <a:ext uri="{FF2B5EF4-FFF2-40B4-BE49-F238E27FC236}">
                <a16:creationId xmlns:a16="http://schemas.microsoft.com/office/drawing/2014/main" id="{E99A1617-CFFD-6C16-8339-A8DD52A09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00807" y="-5028074"/>
            <a:ext cx="5252489" cy="2918049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4A30741-A0DA-5A05-667A-736A139C9B95}"/>
              </a:ext>
            </a:extLst>
          </p:cNvPr>
          <p:cNvSpPr/>
          <p:nvPr/>
        </p:nvSpPr>
        <p:spPr>
          <a:xfrm>
            <a:off x="35745198" y="-1898389"/>
            <a:ext cx="8329253" cy="27306416"/>
          </a:xfrm>
          <a:prstGeom prst="roundRect">
            <a:avLst>
              <a:gd name="adj" fmla="val 243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351" dirty="0"/>
          </a:p>
        </p:txBody>
      </p:sp>
      <p:sp>
        <p:nvSpPr>
          <p:cNvPr id="2" name="Arrow: Pentagon 6">
            <a:extLst>
              <a:ext uri="{FF2B5EF4-FFF2-40B4-BE49-F238E27FC236}">
                <a16:creationId xmlns:a16="http://schemas.microsoft.com/office/drawing/2014/main" id="{C567E902-773E-E03A-1F21-6166CE9BA26B}"/>
              </a:ext>
            </a:extLst>
          </p:cNvPr>
          <p:cNvSpPr/>
          <p:nvPr/>
        </p:nvSpPr>
        <p:spPr>
          <a:xfrm>
            <a:off x="65663" y="734796"/>
            <a:ext cx="6079647" cy="2204807"/>
          </a:xfrm>
          <a:prstGeom prst="homePlate">
            <a:avLst/>
          </a:prstGeom>
          <a:solidFill>
            <a:srgbClr val="00AEE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5991" rIns="0" bIns="55991" rtlCol="0" anchor="ctr"/>
          <a:lstStyle/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Study</a:t>
            </a:r>
          </a:p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Design </a:t>
            </a:r>
            <a:endParaRPr lang="en-GB" sz="470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Arrow: Chevron 7">
            <a:extLst>
              <a:ext uri="{FF2B5EF4-FFF2-40B4-BE49-F238E27FC236}">
                <a16:creationId xmlns:a16="http://schemas.microsoft.com/office/drawing/2014/main" id="{12E18492-A96D-912F-1C7F-7A2B8DD0793E}"/>
              </a:ext>
            </a:extLst>
          </p:cNvPr>
          <p:cNvSpPr/>
          <p:nvPr/>
        </p:nvSpPr>
        <p:spPr>
          <a:xfrm>
            <a:off x="5166538" y="734794"/>
            <a:ext cx="6903190" cy="2204807"/>
          </a:xfrm>
          <a:prstGeom prst="chevron">
            <a:avLst/>
          </a:prstGeom>
          <a:solidFill>
            <a:srgbClr val="00AEE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5991" rIns="0" bIns="55991" rtlCol="0" anchor="ctr"/>
          <a:lstStyle/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Study</a:t>
            </a:r>
          </a:p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Start-up</a:t>
            </a:r>
            <a:endParaRPr lang="en-GB" sz="470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Arrow: Chevron 9">
            <a:extLst>
              <a:ext uri="{FF2B5EF4-FFF2-40B4-BE49-F238E27FC236}">
                <a16:creationId xmlns:a16="http://schemas.microsoft.com/office/drawing/2014/main" id="{666D0646-FD19-FAFB-4880-C0DAB39BFA29}"/>
              </a:ext>
            </a:extLst>
          </p:cNvPr>
          <p:cNvSpPr/>
          <p:nvPr/>
        </p:nvSpPr>
        <p:spPr>
          <a:xfrm>
            <a:off x="11117632" y="734792"/>
            <a:ext cx="6903190" cy="2204807"/>
          </a:xfrm>
          <a:prstGeom prst="chevron">
            <a:avLst/>
          </a:prstGeom>
          <a:solidFill>
            <a:srgbClr val="00AEE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5991" rIns="0" bIns="55991" rtlCol="0" anchor="ctr"/>
          <a:lstStyle/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Study</a:t>
            </a:r>
          </a:p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Execution </a:t>
            </a:r>
            <a:endParaRPr lang="en-GB" sz="470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Arrow: Chevron 11">
            <a:extLst>
              <a:ext uri="{FF2B5EF4-FFF2-40B4-BE49-F238E27FC236}">
                <a16:creationId xmlns:a16="http://schemas.microsoft.com/office/drawing/2014/main" id="{438CB1FF-24D5-03C6-1401-65901081E309}"/>
              </a:ext>
            </a:extLst>
          </p:cNvPr>
          <p:cNvSpPr/>
          <p:nvPr/>
        </p:nvSpPr>
        <p:spPr>
          <a:xfrm>
            <a:off x="17105613" y="731299"/>
            <a:ext cx="6903190" cy="2204807"/>
          </a:xfrm>
          <a:prstGeom prst="chevron">
            <a:avLst/>
          </a:prstGeom>
          <a:solidFill>
            <a:srgbClr val="00AEE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5991" rIns="0" bIns="55991" rtlCol="0" anchor="ctr"/>
          <a:lstStyle/>
          <a:p>
            <a:pPr algn="ctr" defTabSz="597240">
              <a:defRPr/>
            </a:pPr>
            <a:r>
              <a:rPr lang="en-GB" sz="4703" b="1">
                <a:solidFill>
                  <a:srgbClr val="FFFFFF"/>
                </a:solidFill>
                <a:latin typeface="Century Gothic"/>
              </a:rPr>
              <a:t>Analysis &amp; Reporting</a:t>
            </a:r>
            <a:endParaRPr lang="en-GB" sz="470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Arrow: Chevron 12">
            <a:extLst>
              <a:ext uri="{FF2B5EF4-FFF2-40B4-BE49-F238E27FC236}">
                <a16:creationId xmlns:a16="http://schemas.microsoft.com/office/drawing/2014/main" id="{B7BF4194-4599-3286-1E4C-03641C4E13E2}"/>
              </a:ext>
            </a:extLst>
          </p:cNvPr>
          <p:cNvSpPr/>
          <p:nvPr/>
        </p:nvSpPr>
        <p:spPr>
          <a:xfrm>
            <a:off x="23081282" y="763672"/>
            <a:ext cx="6758794" cy="2204807"/>
          </a:xfrm>
          <a:prstGeom prst="chevron">
            <a:avLst/>
          </a:prstGeom>
          <a:solidFill>
            <a:srgbClr val="00AEE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5991" rIns="0" bIns="55991" rtlCol="0" anchor="ctr"/>
          <a:lstStyle/>
          <a:p>
            <a:pPr algn="ctr"/>
            <a:r>
              <a:rPr lang="en-GB" sz="4703" b="1">
                <a:solidFill>
                  <a:srgbClr val="FFFFFF"/>
                </a:solidFill>
                <a:latin typeface="Century Gothic"/>
              </a:rPr>
              <a:t>Regulatory Submission</a:t>
            </a:r>
            <a:endParaRPr lang="en-GB" sz="4703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02097-9465-854C-1D93-FCE3238C62E2}"/>
              </a:ext>
            </a:extLst>
          </p:cNvPr>
          <p:cNvSpPr txBox="1"/>
          <p:nvPr/>
        </p:nvSpPr>
        <p:spPr>
          <a:xfrm>
            <a:off x="-402365" y="-5028074"/>
            <a:ext cx="34491253" cy="274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622" b="1" dirty="0">
                <a:solidFill>
                  <a:srgbClr val="002060"/>
                </a:solidFill>
                <a:latin typeface="Century Gothic" panose="020B0502020202020204" pitchFamily="34" charset="0"/>
              </a:rPr>
              <a:t>USDM in Action</a:t>
            </a:r>
            <a:br>
              <a:rPr lang="en-GB" sz="8622" b="1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r>
              <a:rPr lang="en-GB" sz="8622" b="1" dirty="0">
                <a:solidFill>
                  <a:srgbClr val="002060"/>
                </a:solidFill>
                <a:latin typeface="Century Gothic" panose="020B0502020202020204" pitchFamily="34" charset="0"/>
              </a:rPr>
              <a:t>Use Cases Supporting the DDF Vision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59B1CE-9EEA-F531-4B82-3A5AECE11393}"/>
              </a:ext>
            </a:extLst>
          </p:cNvPr>
          <p:cNvSpPr txBox="1"/>
          <p:nvPr/>
        </p:nvSpPr>
        <p:spPr>
          <a:xfrm>
            <a:off x="35889681" y="9828012"/>
            <a:ext cx="7990554" cy="149699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Study Details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overall study, its various versions, identifiers and associated governance. Also includes the amendments made to the study</a:t>
            </a:r>
          </a:p>
          <a:p>
            <a:endParaRPr lang="en-GB" sz="2613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Study High Level Design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single or set of study designs making up the study detailing the epochs, arms etc.</a:t>
            </a:r>
          </a:p>
          <a:p>
            <a:endParaRPr lang="en-GB" sz="2613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Study Science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detailed description of the study science: the populations and the associated inclusion and exclusion criteria, the indications being studied, the interventions being used and the objectives, endpoints and the associated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estimands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endParaRPr lang="en-GB" sz="2613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Detailed Study Logic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 precise definition of the study logic including support for the Schedule of Activities. </a:t>
            </a:r>
          </a:p>
          <a:p>
            <a:endParaRPr lang="en-GB" sz="2613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Unstructured Content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ability to support one or more document presentations of the USDM content including the ICH M11 protocol template, sponsor templates and other documents.</a:t>
            </a:r>
          </a:p>
          <a:p>
            <a:endParaRPr lang="en-GB" sz="2613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Procedures and Biomedical Concepts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detail around the procedures and observations to be performed as part of the detailed study designs.</a:t>
            </a:r>
          </a:p>
          <a:p>
            <a:endParaRPr lang="en-GB" sz="2613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sz="2613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Controlled Terms</a:t>
            </a:r>
          </a:p>
          <a:p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controlled terminology needed to define the semantics within the model. Managed in the same manner as all CDISC CT and aligned with the M11 template standard.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926974-11D2-771C-7CC5-7D4CD11CE49D}"/>
              </a:ext>
            </a:extLst>
          </p:cNvPr>
          <p:cNvSpPr txBox="1"/>
          <p:nvPr/>
        </p:nvSpPr>
        <p:spPr>
          <a:xfrm>
            <a:off x="-10960317" y="734790"/>
            <a:ext cx="5257732" cy="2247887"/>
          </a:xfrm>
          <a:prstGeom prst="rect">
            <a:avLst/>
          </a:prstGeom>
          <a:solidFill>
            <a:srgbClr val="00AEE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55991" rIns="0" bIns="55991" rtlCol="0" anchor="ctr"/>
          <a:lstStyle>
            <a:defPPr>
              <a:defRPr lang="en-US"/>
            </a:defPPr>
            <a:lvl1pPr algn="ctr">
              <a:defRPr sz="3600" b="1">
                <a:solidFill>
                  <a:srgbClr val="FFFFFF"/>
                </a:solidFill>
                <a:latin typeface="Century Gothic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4703" dirty="0"/>
              <a:t>Protocol ‘Store’</a:t>
            </a:r>
          </a:p>
        </p:txBody>
      </p:sp>
      <p:pic>
        <p:nvPicPr>
          <p:cNvPr id="29" name="Picture 28" descr="A diagram of a computer network&#10;&#10;Description automatically generated with medium confidence">
            <a:extLst>
              <a:ext uri="{FF2B5EF4-FFF2-40B4-BE49-F238E27FC236}">
                <a16:creationId xmlns:a16="http://schemas.microsoft.com/office/drawing/2014/main" id="{1C6915F9-B237-C17B-4718-3529EB895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31013" y="615053"/>
            <a:ext cx="7607822" cy="8930494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A32A698-C4B9-75B3-D185-64F5A12C0183}"/>
              </a:ext>
            </a:extLst>
          </p:cNvPr>
          <p:cNvSpPr/>
          <p:nvPr/>
        </p:nvSpPr>
        <p:spPr>
          <a:xfrm>
            <a:off x="40257097" y="2657533"/>
            <a:ext cx="3481738" cy="2097599"/>
          </a:xfrm>
          <a:prstGeom prst="roundRect">
            <a:avLst>
              <a:gd name="adj" fmla="val 5628"/>
            </a:avLst>
          </a:prstGeom>
          <a:solidFill>
            <a:srgbClr val="D7766F">
              <a:alpha val="47059"/>
            </a:srgbClr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rgbClr val="C00000"/>
                </a:solidFill>
                <a:latin typeface="Arial" panose="020B0604020202020204"/>
              </a:rPr>
              <a:t>Study, Identifiers, Amendments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AFCDE92-AC01-C416-95A2-951BEE999BD8}"/>
              </a:ext>
            </a:extLst>
          </p:cNvPr>
          <p:cNvSpPr/>
          <p:nvPr/>
        </p:nvSpPr>
        <p:spPr>
          <a:xfrm>
            <a:off x="40243820" y="4841609"/>
            <a:ext cx="3495013" cy="2471836"/>
          </a:xfrm>
          <a:prstGeom prst="roundRect">
            <a:avLst>
              <a:gd name="adj" fmla="val 5628"/>
            </a:avLst>
          </a:prstGeom>
          <a:solidFill>
            <a:schemeClr val="accent2">
              <a:lumMod val="40000"/>
              <a:lumOff val="60000"/>
              <a:alpha val="47843"/>
            </a:scheme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</a:rPr>
              <a:t>Study Designs, Arms, Epochs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50DE0F5-4A26-AE4A-7894-0DA0E2DE0FC0}"/>
              </a:ext>
            </a:extLst>
          </p:cNvPr>
          <p:cNvSpPr/>
          <p:nvPr/>
        </p:nvSpPr>
        <p:spPr>
          <a:xfrm>
            <a:off x="39042909" y="7399923"/>
            <a:ext cx="4695924" cy="2145623"/>
          </a:xfrm>
          <a:prstGeom prst="roundRect">
            <a:avLst>
              <a:gd name="adj" fmla="val 5628"/>
            </a:avLst>
          </a:prstGeom>
          <a:solidFill>
            <a:srgbClr val="FFC000">
              <a:alpha val="47843"/>
            </a:srgbClr>
          </a:solidFill>
          <a:ln w="31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Detailed Study Logic, Encounters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9546C56-9D1F-ED3C-734F-9CA3886381A0}"/>
              </a:ext>
            </a:extLst>
          </p:cNvPr>
          <p:cNvSpPr/>
          <p:nvPr/>
        </p:nvSpPr>
        <p:spPr>
          <a:xfrm>
            <a:off x="36144288" y="7399922"/>
            <a:ext cx="2726318" cy="2145625"/>
          </a:xfrm>
          <a:prstGeom prst="roundRect">
            <a:avLst>
              <a:gd name="adj" fmla="val 5628"/>
            </a:avLst>
          </a:prstGeom>
          <a:solidFill>
            <a:schemeClr val="accent3">
              <a:lumMod val="60000"/>
              <a:lumOff val="40000"/>
              <a:alpha val="47843"/>
            </a:schemeClr>
          </a:solidFill>
          <a:ln w="31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rPr>
              <a:t>Procedures, Biomedical Concepts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914CDB55-BDDC-8B74-7A4C-02200C7C86E5}"/>
              </a:ext>
            </a:extLst>
          </p:cNvPr>
          <p:cNvSpPr/>
          <p:nvPr/>
        </p:nvSpPr>
        <p:spPr>
          <a:xfrm>
            <a:off x="36144289" y="2657531"/>
            <a:ext cx="3979615" cy="4655914"/>
          </a:xfrm>
          <a:prstGeom prst="roundRect">
            <a:avLst>
              <a:gd name="adj" fmla="val 3189"/>
            </a:avLst>
          </a:prstGeom>
          <a:solidFill>
            <a:schemeClr val="accent1">
              <a:lumMod val="60000"/>
              <a:lumOff val="40000"/>
              <a:alpha val="47843"/>
            </a:schemeClr>
          </a:solidFill>
          <a:ln w="31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Populations,</a:t>
            </a:r>
            <a:endParaRPr lang="en-GB" sz="2351" b="1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ctr" defTabSz="1194481">
              <a:defRPr/>
            </a:pPr>
            <a:r>
              <a:rPr lang="en-GB" sz="3135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Inclusion &amp; Exclusion, </a:t>
            </a:r>
          </a:p>
          <a:p>
            <a:pPr algn="ctr" defTabSz="1194481">
              <a:defRPr/>
            </a:pPr>
            <a:r>
              <a:rPr lang="en-GB" sz="3135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Interventions &amp; Indications, </a:t>
            </a:r>
          </a:p>
          <a:p>
            <a:pPr algn="ctr" defTabSz="1194481">
              <a:defRPr/>
            </a:pPr>
            <a:r>
              <a:rPr lang="en-GB" sz="3135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Estimands</a:t>
            </a:r>
            <a:r>
              <a:rPr lang="en-GB" sz="3135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,</a:t>
            </a:r>
          </a:p>
          <a:p>
            <a:pPr algn="ctr" defTabSz="1194481">
              <a:defRPr/>
            </a:pPr>
            <a:r>
              <a:rPr lang="en-GB" sz="3135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Objectives</a:t>
            </a:r>
          </a:p>
          <a:p>
            <a:pPr algn="ctr" defTabSz="1194481">
              <a:defRPr/>
            </a:pPr>
            <a:r>
              <a:rPr lang="en-GB" sz="3135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&amp; Endpoints 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BF7EEF6-7CEA-59AF-9D9F-A1EC6639EF39}"/>
              </a:ext>
            </a:extLst>
          </p:cNvPr>
          <p:cNvSpPr/>
          <p:nvPr/>
        </p:nvSpPr>
        <p:spPr>
          <a:xfrm>
            <a:off x="36131011" y="615053"/>
            <a:ext cx="3491524" cy="1953927"/>
          </a:xfrm>
          <a:prstGeom prst="roundRect">
            <a:avLst>
              <a:gd name="adj" fmla="val 3189"/>
            </a:avLst>
          </a:prstGeom>
          <a:solidFill>
            <a:schemeClr val="bg1">
              <a:lumMod val="75000"/>
              <a:alpha val="47843"/>
            </a:schemeClr>
          </a:solidFill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rgbClr val="FFFFFF">
                    <a:lumMod val="50000"/>
                  </a:srgbClr>
                </a:solidFill>
                <a:latin typeface="Century Gothic" panose="020B0502020202020204" pitchFamily="34" charset="0"/>
              </a:rPr>
              <a:t>Controlled Terms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1EEB0C2A-EE8F-C324-538B-8304B8BC9A0B}"/>
              </a:ext>
            </a:extLst>
          </p:cNvPr>
          <p:cNvSpPr/>
          <p:nvPr/>
        </p:nvSpPr>
        <p:spPr>
          <a:xfrm>
            <a:off x="39759219" y="615052"/>
            <a:ext cx="3979615" cy="1953926"/>
          </a:xfrm>
          <a:prstGeom prst="roundRect">
            <a:avLst>
              <a:gd name="adj" fmla="val 5628"/>
            </a:avLst>
          </a:prstGeom>
          <a:solidFill>
            <a:schemeClr val="accent5">
              <a:lumMod val="40000"/>
              <a:lumOff val="60000"/>
              <a:alpha val="47843"/>
            </a:schemeClr>
          </a:solidFill>
          <a:ln w="31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7026" tIns="47026" rIns="47026" bIns="47026" rtlCol="0" anchor="ctr"/>
          <a:lstStyle/>
          <a:p>
            <a:pPr algn="ctr" defTabSz="1194481">
              <a:defRPr/>
            </a:pPr>
            <a:r>
              <a:rPr lang="en-GB" sz="3135" b="1" dirty="0">
                <a:solidFill>
                  <a:srgbClr val="553278">
                    <a:lumMod val="60000"/>
                    <a:lumOff val="40000"/>
                  </a:srgbClr>
                </a:solidFill>
                <a:latin typeface="Century Gothic" panose="020B0502020202020204" pitchFamily="34" charset="0"/>
              </a:rPr>
              <a:t>Unstructured Content</a:t>
            </a:r>
          </a:p>
        </p:txBody>
      </p:sp>
      <p:sp>
        <p:nvSpPr>
          <p:cNvPr id="128" name="Left-right Arrow 127">
            <a:extLst>
              <a:ext uri="{FF2B5EF4-FFF2-40B4-BE49-F238E27FC236}">
                <a16:creationId xmlns:a16="http://schemas.microsoft.com/office/drawing/2014/main" id="{B6DD2C1A-7084-D153-E8A0-C078B14EE39B}"/>
              </a:ext>
            </a:extLst>
          </p:cNvPr>
          <p:cNvSpPr/>
          <p:nvPr/>
        </p:nvSpPr>
        <p:spPr>
          <a:xfrm>
            <a:off x="48990" y="-513198"/>
            <a:ext cx="29791086" cy="984810"/>
          </a:xfrm>
          <a:prstGeom prst="leftRightArrow">
            <a:avLst>
              <a:gd name="adj1" fmla="val 100000"/>
              <a:gd name="adj2" fmla="val 542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703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Prospective</a:t>
            </a:r>
          </a:p>
        </p:txBody>
      </p:sp>
      <p:sp>
        <p:nvSpPr>
          <p:cNvPr id="129" name="Left-right Arrow 128">
            <a:extLst>
              <a:ext uri="{FF2B5EF4-FFF2-40B4-BE49-F238E27FC236}">
                <a16:creationId xmlns:a16="http://schemas.microsoft.com/office/drawing/2014/main" id="{EA9F83F6-EC93-7313-3135-BA662B71E976}"/>
              </a:ext>
            </a:extLst>
          </p:cNvPr>
          <p:cNvSpPr/>
          <p:nvPr/>
        </p:nvSpPr>
        <p:spPr>
          <a:xfrm>
            <a:off x="-10960315" y="-510430"/>
            <a:ext cx="5257732" cy="984810"/>
          </a:xfrm>
          <a:prstGeom prst="leftRightArrow">
            <a:avLst>
              <a:gd name="adj1" fmla="val 100000"/>
              <a:gd name="adj2" fmla="val 542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703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Retrospective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DA1EDB-6D2F-E64B-3E98-22F07CE9C0E5}"/>
              </a:ext>
            </a:extLst>
          </p:cNvPr>
          <p:cNvSpPr txBox="1"/>
          <p:nvPr/>
        </p:nvSpPr>
        <p:spPr>
          <a:xfrm>
            <a:off x="35745196" y="-1877401"/>
            <a:ext cx="8329253" cy="23028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55991" rIns="0" bIns="55991" rtlCol="0" anchor="ctr"/>
          <a:lstStyle>
            <a:defPPr>
              <a:defRPr lang="en-US"/>
            </a:defPPr>
            <a:lvl1pPr algn="ctr">
              <a:defRPr sz="3600" b="1">
                <a:solidFill>
                  <a:schemeClr val="accent1"/>
                </a:solidFill>
                <a:latin typeface="Century Gothic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4703" dirty="0"/>
              <a:t>Unified Study Definitions Model (USDM)</a:t>
            </a:r>
          </a:p>
        </p:txBody>
      </p:sp>
      <p:sp>
        <p:nvSpPr>
          <p:cNvPr id="171" name="Left-right Arrow 170">
            <a:extLst>
              <a:ext uri="{FF2B5EF4-FFF2-40B4-BE49-F238E27FC236}">
                <a16:creationId xmlns:a16="http://schemas.microsoft.com/office/drawing/2014/main" id="{5C2FFEB9-0CED-4C3F-667F-1D7427217BFE}"/>
              </a:ext>
            </a:extLst>
          </p:cNvPr>
          <p:cNvSpPr/>
          <p:nvPr/>
        </p:nvSpPr>
        <p:spPr>
          <a:xfrm>
            <a:off x="-5473916" y="-1793868"/>
            <a:ext cx="35313992" cy="984810"/>
          </a:xfrm>
          <a:prstGeom prst="leftRightArrow">
            <a:avLst>
              <a:gd name="adj1" fmla="val 100000"/>
              <a:gd name="adj2" fmla="val 5420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703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Use Cases</a:t>
            </a: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DB31D3C-112A-3916-EC80-A321B6743CA0}"/>
              </a:ext>
            </a:extLst>
          </p:cNvPr>
          <p:cNvGrpSpPr/>
          <p:nvPr/>
        </p:nvGrpSpPr>
        <p:grpSpPr>
          <a:xfrm>
            <a:off x="74610" y="3231586"/>
            <a:ext cx="5648915" cy="6264136"/>
            <a:chOff x="15220704" y="16694762"/>
            <a:chExt cx="4324406" cy="4795375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A0FF891-FA30-510A-5B7C-47C37B5483E3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176" name="Rounded Rectangle 175">
                <a:extLst>
                  <a:ext uri="{FF2B5EF4-FFF2-40B4-BE49-F238E27FC236}">
                    <a16:creationId xmlns:a16="http://schemas.microsoft.com/office/drawing/2014/main" id="{DC0A031A-C5E0-4716-0E06-1B1F15C97DE0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77" name="Rounded Rectangle 176">
                <a:extLst>
                  <a:ext uri="{FF2B5EF4-FFF2-40B4-BE49-F238E27FC236}">
                    <a16:creationId xmlns:a16="http://schemas.microsoft.com/office/drawing/2014/main" id="{27CD100E-1FD4-4AC5-1AEE-433B6ADF850F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8" name="Rounded Rectangle 177">
                <a:extLst>
                  <a:ext uri="{FF2B5EF4-FFF2-40B4-BE49-F238E27FC236}">
                    <a16:creationId xmlns:a16="http://schemas.microsoft.com/office/drawing/2014/main" id="{8956ECD8-BC0E-66CE-4C2E-364F474418C2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9" name="Rounded Rectangle 178">
                <a:extLst>
                  <a:ext uri="{FF2B5EF4-FFF2-40B4-BE49-F238E27FC236}">
                    <a16:creationId xmlns:a16="http://schemas.microsoft.com/office/drawing/2014/main" id="{A6A43A94-101E-FE38-F2B2-C0F67214BC72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0" name="Rounded Rectangle 179">
                <a:extLst>
                  <a:ext uri="{FF2B5EF4-FFF2-40B4-BE49-F238E27FC236}">
                    <a16:creationId xmlns:a16="http://schemas.microsoft.com/office/drawing/2014/main" id="{73CCE625-985B-688D-536C-A738AB13E896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0CD5D17A-1331-B232-0FB5-8BFE7A11D979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82" name="Rounded Rectangle 181">
                <a:extLst>
                  <a:ext uri="{FF2B5EF4-FFF2-40B4-BE49-F238E27FC236}">
                    <a16:creationId xmlns:a16="http://schemas.microsoft.com/office/drawing/2014/main" id="{27BAE793-0847-BCDD-7B01-7266FA167CBA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83" name="Rounded Rectangle 182">
              <a:extLst>
                <a:ext uri="{FF2B5EF4-FFF2-40B4-BE49-F238E27FC236}">
                  <a16:creationId xmlns:a16="http://schemas.microsoft.com/office/drawing/2014/main" id="{7A9C5DF0-D262-4A05-6AB0-56441B18E52F}"/>
                </a:ext>
              </a:extLst>
            </p:cNvPr>
            <p:cNvSpPr/>
            <p:nvPr/>
          </p:nvSpPr>
          <p:spPr>
            <a:xfrm>
              <a:off x="15220704" y="16694762"/>
              <a:ext cx="4324406" cy="4795375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17566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Protocol Authoring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Support the authoring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of new protocols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including complex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studies such as Master,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Umbrella etc.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This would include </a:t>
              </a:r>
              <a:r>
                <a:rPr lang="en-GB" sz="2613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analyzing</a:t>
              </a: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 previous protocol information to inform design choices (see Protocol Store).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Writing associated SAP, Informed Consent, Monitoring Plan, Drug Plan etc via content reuse.</a:t>
              </a: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142448C7-EC66-8AD1-B194-3EB727119090}"/>
              </a:ext>
            </a:extLst>
          </p:cNvPr>
          <p:cNvGrpSpPr/>
          <p:nvPr/>
        </p:nvGrpSpPr>
        <p:grpSpPr>
          <a:xfrm>
            <a:off x="-10953935" y="3243726"/>
            <a:ext cx="5249100" cy="7076109"/>
            <a:chOff x="15220704" y="16694762"/>
            <a:chExt cx="4018336" cy="5416963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CAA7811D-AFD2-AD44-B23C-4ADC4D85A7B5}"/>
                </a:ext>
              </a:extLst>
            </p:cNvPr>
            <p:cNvGrpSpPr/>
            <p:nvPr/>
          </p:nvGrpSpPr>
          <p:grpSpPr>
            <a:xfrm>
              <a:off x="18038277" y="16811136"/>
              <a:ext cx="1061748" cy="1238986"/>
              <a:chOff x="7844333" y="5623858"/>
              <a:chExt cx="1061748" cy="1238986"/>
            </a:xfrm>
          </p:grpSpPr>
          <p:sp>
            <p:nvSpPr>
              <p:cNvPr id="198" name="Rounded Rectangle 197">
                <a:extLst>
                  <a:ext uri="{FF2B5EF4-FFF2-40B4-BE49-F238E27FC236}">
                    <a16:creationId xmlns:a16="http://schemas.microsoft.com/office/drawing/2014/main" id="{01367FA4-36FB-D97C-275D-B44CB420A12E}"/>
                  </a:ext>
                </a:extLst>
              </p:cNvPr>
              <p:cNvSpPr/>
              <p:nvPr/>
            </p:nvSpPr>
            <p:spPr>
              <a:xfrm>
                <a:off x="8436372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99" name="Rounded Rectangle 198">
                <a:extLst>
                  <a:ext uri="{FF2B5EF4-FFF2-40B4-BE49-F238E27FC236}">
                    <a16:creationId xmlns:a16="http://schemas.microsoft.com/office/drawing/2014/main" id="{A508D5E6-492B-12F3-A0EA-03DDFFE3D304}"/>
                  </a:ext>
                </a:extLst>
              </p:cNvPr>
              <p:cNvSpPr/>
              <p:nvPr/>
            </p:nvSpPr>
            <p:spPr>
              <a:xfrm>
                <a:off x="8436372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0" name="Rounded Rectangle 199">
                <a:extLst>
                  <a:ext uri="{FF2B5EF4-FFF2-40B4-BE49-F238E27FC236}">
                    <a16:creationId xmlns:a16="http://schemas.microsoft.com/office/drawing/2014/main" id="{35B6B6ED-B32A-4FE1-191C-B8BA7E9DB148}"/>
                  </a:ext>
                </a:extLst>
              </p:cNvPr>
              <p:cNvSpPr/>
              <p:nvPr/>
            </p:nvSpPr>
            <p:spPr>
              <a:xfrm>
                <a:off x="8274983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1" name="Rounded Rectangle 200">
                <a:extLst>
                  <a:ext uri="{FF2B5EF4-FFF2-40B4-BE49-F238E27FC236}">
                    <a16:creationId xmlns:a16="http://schemas.microsoft.com/office/drawing/2014/main" id="{A8D28FC7-4DD4-9B86-3BEE-FDFEFCDD89CD}"/>
                  </a:ext>
                </a:extLst>
              </p:cNvPr>
              <p:cNvSpPr/>
              <p:nvPr/>
            </p:nvSpPr>
            <p:spPr>
              <a:xfrm>
                <a:off x="7844333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2" name="Rounded Rectangle 201">
                <a:extLst>
                  <a:ext uri="{FF2B5EF4-FFF2-40B4-BE49-F238E27FC236}">
                    <a16:creationId xmlns:a16="http://schemas.microsoft.com/office/drawing/2014/main" id="{33D73EDE-3ABD-BB05-E4E8-C98FED1507D5}"/>
                  </a:ext>
                </a:extLst>
              </p:cNvPr>
              <p:cNvSpPr/>
              <p:nvPr/>
            </p:nvSpPr>
            <p:spPr>
              <a:xfrm>
                <a:off x="7844333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3" name="Rounded Rectangle 202">
                <a:extLst>
                  <a:ext uri="{FF2B5EF4-FFF2-40B4-BE49-F238E27FC236}">
                    <a16:creationId xmlns:a16="http://schemas.microsoft.com/office/drawing/2014/main" id="{C2F8B622-FC3A-75E5-A26E-5255C3F788E8}"/>
                  </a:ext>
                </a:extLst>
              </p:cNvPr>
              <p:cNvSpPr/>
              <p:nvPr/>
            </p:nvSpPr>
            <p:spPr>
              <a:xfrm>
                <a:off x="7844334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04" name="Rounded Rectangle 203">
                <a:extLst>
                  <a:ext uri="{FF2B5EF4-FFF2-40B4-BE49-F238E27FC236}">
                    <a16:creationId xmlns:a16="http://schemas.microsoft.com/office/drawing/2014/main" id="{A4BC0996-B810-6BE4-46CC-EC216D6DF43D}"/>
                  </a:ext>
                </a:extLst>
              </p:cNvPr>
              <p:cNvSpPr/>
              <p:nvPr/>
            </p:nvSpPr>
            <p:spPr>
              <a:xfrm>
                <a:off x="8339188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97" name="Rounded Rectangle 196">
              <a:extLst>
                <a:ext uri="{FF2B5EF4-FFF2-40B4-BE49-F238E27FC236}">
                  <a16:creationId xmlns:a16="http://schemas.microsoft.com/office/drawing/2014/main" id="{C3E1EED6-A5FB-09EE-2124-84C43A28A903}"/>
                </a:ext>
              </a:extLst>
            </p:cNvPr>
            <p:cNvSpPr/>
            <p:nvPr/>
          </p:nvSpPr>
          <p:spPr>
            <a:xfrm>
              <a:off x="15220704" y="16694762"/>
              <a:ext cx="4018336" cy="5416963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17566" rIns="117566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Past Protocols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 storage of past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sponsor protocols in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to support a variety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of use cases such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as: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pPr marL="373275" indent="-373275">
                <a:buFont typeface="Arial" panose="020B0604020202020204" pitchFamily="34" charset="0"/>
                <a:buChar char="•"/>
              </a:pP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Therapeutic area specific content</a:t>
              </a:r>
            </a:p>
            <a:p>
              <a:pPr marL="373275" indent="-373275">
                <a:buFont typeface="Arial" panose="020B0604020202020204" pitchFamily="34" charset="0"/>
                <a:buChar char="•"/>
              </a:pP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Standard inclusion and exclusion criteria.</a:t>
              </a:r>
            </a:p>
            <a:p>
              <a:pPr marL="373275" indent="-373275">
                <a:buFont typeface="Arial" panose="020B0604020202020204" pitchFamily="34" charset="0"/>
                <a:buChar char="•"/>
              </a:pP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Libraries of objectives, endpoints and </a:t>
              </a:r>
              <a:r>
                <a:rPr lang="en-GB" sz="2613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estimands</a:t>
              </a: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.</a:t>
              </a:r>
            </a:p>
            <a:p>
              <a:pPr marL="373275" indent="-373275">
                <a:buFont typeface="Arial" panose="020B0604020202020204" pitchFamily="34" charset="0"/>
                <a:buChar char="•"/>
              </a:pP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Asses the past to prevent protocol amendments.</a:t>
              </a:r>
            </a:p>
            <a:p>
              <a:pPr marL="373275" indent="-373275">
                <a:buFont typeface="Arial" panose="020B0604020202020204" pitchFamily="34" charset="0"/>
                <a:buChar char="•"/>
              </a:pP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General search across the library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434307A-9969-D384-7076-A7E4ABB12577}"/>
              </a:ext>
            </a:extLst>
          </p:cNvPr>
          <p:cNvGrpSpPr/>
          <p:nvPr/>
        </p:nvGrpSpPr>
        <p:grpSpPr>
          <a:xfrm>
            <a:off x="42282" y="17783344"/>
            <a:ext cx="5648915" cy="3097368"/>
            <a:chOff x="15220704" y="16694762"/>
            <a:chExt cx="4324406" cy="2371124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BEF1FD74-310F-8A8B-BB70-4C6DCCAF334F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08" name="Rounded Rectangle 207">
                <a:extLst>
                  <a:ext uri="{FF2B5EF4-FFF2-40B4-BE49-F238E27FC236}">
                    <a16:creationId xmlns:a16="http://schemas.microsoft.com/office/drawing/2014/main" id="{2146E13D-3183-3B33-DA9C-9384729503C6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09" name="Rounded Rectangle 208">
                <a:extLst>
                  <a:ext uri="{FF2B5EF4-FFF2-40B4-BE49-F238E27FC236}">
                    <a16:creationId xmlns:a16="http://schemas.microsoft.com/office/drawing/2014/main" id="{F9741D10-5078-DEDF-E32D-021CF8F502A0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0" name="Rounded Rectangle 209">
                <a:extLst>
                  <a:ext uri="{FF2B5EF4-FFF2-40B4-BE49-F238E27FC236}">
                    <a16:creationId xmlns:a16="http://schemas.microsoft.com/office/drawing/2014/main" id="{043584D8-8480-09A5-263A-9A19878D6F3F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1" name="Rounded Rectangle 210">
                <a:extLst>
                  <a:ext uri="{FF2B5EF4-FFF2-40B4-BE49-F238E27FC236}">
                    <a16:creationId xmlns:a16="http://schemas.microsoft.com/office/drawing/2014/main" id="{1E9E3674-66DF-C00C-B5C8-AD40FEFF82E3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2" name="Rounded Rectangle 211">
                <a:extLst>
                  <a:ext uri="{FF2B5EF4-FFF2-40B4-BE49-F238E27FC236}">
                    <a16:creationId xmlns:a16="http://schemas.microsoft.com/office/drawing/2014/main" id="{3BDF33CA-9029-7ECC-A162-13DF7682AFBE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3" name="Rounded Rectangle 212">
                <a:extLst>
                  <a:ext uri="{FF2B5EF4-FFF2-40B4-BE49-F238E27FC236}">
                    <a16:creationId xmlns:a16="http://schemas.microsoft.com/office/drawing/2014/main" id="{706270D0-A7FB-3A7B-55A2-E1E0C1404BC9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4" name="Rounded Rectangle 213">
                <a:extLst>
                  <a:ext uri="{FF2B5EF4-FFF2-40B4-BE49-F238E27FC236}">
                    <a16:creationId xmlns:a16="http://schemas.microsoft.com/office/drawing/2014/main" id="{7B0C00D1-0D91-7C39-D30B-20F6199E829F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07" name="Rounded Rectangle 206">
              <a:extLst>
                <a:ext uri="{FF2B5EF4-FFF2-40B4-BE49-F238E27FC236}">
                  <a16:creationId xmlns:a16="http://schemas.microsoft.com/office/drawing/2014/main" id="{58090520-E200-5D1B-528D-896DC1F4478A}"/>
                </a:ext>
              </a:extLst>
            </p:cNvPr>
            <p:cNvSpPr/>
            <p:nvPr/>
          </p:nvSpPr>
          <p:spPr>
            <a:xfrm>
              <a:off x="15220704" y="16694762"/>
              <a:ext cx="4324406" cy="2371124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Regulatory Authority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Approval for the execution of the study including IND, CTA etc and discussions with regulatory authorities</a:t>
              </a:r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FA3DB53-A5B1-6B35-4AEF-DE77FCBD57C3}"/>
              </a:ext>
            </a:extLst>
          </p:cNvPr>
          <p:cNvGrpSpPr/>
          <p:nvPr/>
        </p:nvGrpSpPr>
        <p:grpSpPr>
          <a:xfrm>
            <a:off x="68202" y="9836857"/>
            <a:ext cx="5648915" cy="3422234"/>
            <a:chOff x="15220704" y="16694762"/>
            <a:chExt cx="4324406" cy="2619818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A22AE702-413E-0C87-E3AD-10C34AAE0A26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18" name="Rounded Rectangle 217">
                <a:extLst>
                  <a:ext uri="{FF2B5EF4-FFF2-40B4-BE49-F238E27FC236}">
                    <a16:creationId xmlns:a16="http://schemas.microsoft.com/office/drawing/2014/main" id="{B1762CB9-6DD4-207A-2865-A999F2B909C9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19" name="Rounded Rectangle 218">
                <a:extLst>
                  <a:ext uri="{FF2B5EF4-FFF2-40B4-BE49-F238E27FC236}">
                    <a16:creationId xmlns:a16="http://schemas.microsoft.com/office/drawing/2014/main" id="{3FE56617-153B-B7C9-3F33-A95E138AAA16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0" name="Rounded Rectangle 219">
                <a:extLst>
                  <a:ext uri="{FF2B5EF4-FFF2-40B4-BE49-F238E27FC236}">
                    <a16:creationId xmlns:a16="http://schemas.microsoft.com/office/drawing/2014/main" id="{BAA8D46A-83CA-2C94-9682-390E32651573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1" name="Rounded Rectangle 220">
                <a:extLst>
                  <a:ext uri="{FF2B5EF4-FFF2-40B4-BE49-F238E27FC236}">
                    <a16:creationId xmlns:a16="http://schemas.microsoft.com/office/drawing/2014/main" id="{B12B0F51-AD92-6EF7-EADC-30ED4B3A47FD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2" name="Rounded Rectangle 221">
                <a:extLst>
                  <a:ext uri="{FF2B5EF4-FFF2-40B4-BE49-F238E27FC236}">
                    <a16:creationId xmlns:a16="http://schemas.microsoft.com/office/drawing/2014/main" id="{9F782AA5-C583-ACB6-2BE3-D0FA3B9D4C92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3" name="Rounded Rectangle 222">
                <a:extLst>
                  <a:ext uri="{FF2B5EF4-FFF2-40B4-BE49-F238E27FC236}">
                    <a16:creationId xmlns:a16="http://schemas.microsoft.com/office/drawing/2014/main" id="{7FF66774-2EEB-6064-5348-5076F5A9DB0B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4" name="Rounded Rectangle 223">
                <a:extLst>
                  <a:ext uri="{FF2B5EF4-FFF2-40B4-BE49-F238E27FC236}">
                    <a16:creationId xmlns:a16="http://schemas.microsoft.com/office/drawing/2014/main" id="{A14022C9-2007-6750-0533-21C2A592AA6D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17" name="Rounded Rectangle 216">
              <a:extLst>
                <a:ext uri="{FF2B5EF4-FFF2-40B4-BE49-F238E27FC236}">
                  <a16:creationId xmlns:a16="http://schemas.microsoft.com/office/drawing/2014/main" id="{EFAE883D-A934-5214-8CEC-7FEAEEF152D9}"/>
                </a:ext>
              </a:extLst>
            </p:cNvPr>
            <p:cNvSpPr/>
            <p:nvPr/>
          </p:nvSpPr>
          <p:spPr>
            <a:xfrm>
              <a:off x="15220704" y="16694762"/>
              <a:ext cx="4324406" cy="2619818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7566" rIns="117566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Study Build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Build of the study based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on the protocol I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including all detailed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procedures and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assessments to allow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for immediate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deployment.</a:t>
              </a:r>
            </a:p>
          </p:txBody>
        </p:sp>
      </p:grpSp>
      <p:sp>
        <p:nvSpPr>
          <p:cNvPr id="235" name="Left-right Arrow 234">
            <a:extLst>
              <a:ext uri="{FF2B5EF4-FFF2-40B4-BE49-F238E27FC236}">
                <a16:creationId xmlns:a16="http://schemas.microsoft.com/office/drawing/2014/main" id="{EA23BF40-649A-D55B-9705-1FAABCDB12E9}"/>
              </a:ext>
            </a:extLst>
          </p:cNvPr>
          <p:cNvSpPr/>
          <p:nvPr/>
        </p:nvSpPr>
        <p:spPr>
          <a:xfrm>
            <a:off x="-5473916" y="24423217"/>
            <a:ext cx="35313992" cy="984810"/>
          </a:xfrm>
          <a:prstGeom prst="leftRightArrow">
            <a:avLst>
              <a:gd name="adj1" fmla="val 100000"/>
              <a:gd name="adj2" fmla="val 4399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135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NOTE:</a:t>
            </a:r>
            <a:r>
              <a:rPr lang="en-GB" sz="3135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The use cases presented are illustrative and the list is not intended to be exhaustive.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D2DC696-BF00-A90D-50C3-EDA656AB3C17}"/>
              </a:ext>
            </a:extLst>
          </p:cNvPr>
          <p:cNvGrpSpPr/>
          <p:nvPr/>
        </p:nvGrpSpPr>
        <p:grpSpPr>
          <a:xfrm>
            <a:off x="6005360" y="20923445"/>
            <a:ext cx="5648915" cy="2204276"/>
            <a:chOff x="15220704" y="16694762"/>
            <a:chExt cx="4324406" cy="1687436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58446F07-36F8-625C-6FBF-DAD4B777D270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39" name="Rounded Rectangle 238">
                <a:extLst>
                  <a:ext uri="{FF2B5EF4-FFF2-40B4-BE49-F238E27FC236}">
                    <a16:creationId xmlns:a16="http://schemas.microsoft.com/office/drawing/2014/main" id="{331C5CC2-E91C-0927-5C8D-D57AD0C7FA9E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40" name="Rounded Rectangle 239">
                <a:extLst>
                  <a:ext uri="{FF2B5EF4-FFF2-40B4-BE49-F238E27FC236}">
                    <a16:creationId xmlns:a16="http://schemas.microsoft.com/office/drawing/2014/main" id="{B2CBB590-8053-C160-67D0-6E92F5BA55E3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1" name="Rounded Rectangle 240">
                <a:extLst>
                  <a:ext uri="{FF2B5EF4-FFF2-40B4-BE49-F238E27FC236}">
                    <a16:creationId xmlns:a16="http://schemas.microsoft.com/office/drawing/2014/main" id="{6803FDDD-3E0F-93FC-9365-83F4BC2DE9C3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2" name="Rounded Rectangle 241">
                <a:extLst>
                  <a:ext uri="{FF2B5EF4-FFF2-40B4-BE49-F238E27FC236}">
                    <a16:creationId xmlns:a16="http://schemas.microsoft.com/office/drawing/2014/main" id="{C72AA2A9-8993-6299-9935-5EA5ED68A9AE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3" name="Rounded Rectangle 242">
                <a:extLst>
                  <a:ext uri="{FF2B5EF4-FFF2-40B4-BE49-F238E27FC236}">
                    <a16:creationId xmlns:a16="http://schemas.microsoft.com/office/drawing/2014/main" id="{C57D2269-6A3E-2FB2-745D-DDDBBE414C2B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4" name="Rounded Rectangle 243">
                <a:extLst>
                  <a:ext uri="{FF2B5EF4-FFF2-40B4-BE49-F238E27FC236}">
                    <a16:creationId xmlns:a16="http://schemas.microsoft.com/office/drawing/2014/main" id="{A0A73C3A-F4FD-0590-4138-0006DFFF7DDC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45" name="Rounded Rectangle 244">
                <a:extLst>
                  <a:ext uri="{FF2B5EF4-FFF2-40B4-BE49-F238E27FC236}">
                    <a16:creationId xmlns:a16="http://schemas.microsoft.com/office/drawing/2014/main" id="{C8EAAC8C-78C2-1289-5FC9-CB3061190C98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38" name="Rounded Rectangle 237">
              <a:extLst>
                <a:ext uri="{FF2B5EF4-FFF2-40B4-BE49-F238E27FC236}">
                  <a16:creationId xmlns:a16="http://schemas.microsoft.com/office/drawing/2014/main" id="{EB6BFFE5-69BE-217A-D0C4-BE612B7E6902}"/>
                </a:ext>
              </a:extLst>
            </p:cNvPr>
            <p:cNvSpPr/>
            <p:nvPr/>
          </p:nvSpPr>
          <p:spPr>
            <a:xfrm>
              <a:off x="15220704" y="16694762"/>
              <a:ext cx="4324406" cy="1687436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Site Support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Provision of tailored information to sites regarding study execution.</a:t>
              </a:r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599A1DFF-8B7C-4F25-CBEC-2AD60119775B}"/>
              </a:ext>
            </a:extLst>
          </p:cNvPr>
          <p:cNvGrpSpPr/>
          <p:nvPr/>
        </p:nvGrpSpPr>
        <p:grpSpPr>
          <a:xfrm>
            <a:off x="6005360" y="15812437"/>
            <a:ext cx="5648915" cy="2204276"/>
            <a:chOff x="15220704" y="16694762"/>
            <a:chExt cx="4324406" cy="1687436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C8214E84-B4DF-0183-50B6-88E772003C2B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49" name="Rounded Rectangle 248">
                <a:extLst>
                  <a:ext uri="{FF2B5EF4-FFF2-40B4-BE49-F238E27FC236}">
                    <a16:creationId xmlns:a16="http://schemas.microsoft.com/office/drawing/2014/main" id="{058D3003-3B55-5876-B740-BAFA4C185D18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50" name="Rounded Rectangle 249">
                <a:extLst>
                  <a:ext uri="{FF2B5EF4-FFF2-40B4-BE49-F238E27FC236}">
                    <a16:creationId xmlns:a16="http://schemas.microsoft.com/office/drawing/2014/main" id="{D9E057BF-D2DB-89EA-3FA6-65F298B87370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1" name="Rounded Rectangle 250">
                <a:extLst>
                  <a:ext uri="{FF2B5EF4-FFF2-40B4-BE49-F238E27FC236}">
                    <a16:creationId xmlns:a16="http://schemas.microsoft.com/office/drawing/2014/main" id="{05693514-00E1-3586-4873-2E91F3C69822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2" name="Rounded Rectangle 251">
                <a:extLst>
                  <a:ext uri="{FF2B5EF4-FFF2-40B4-BE49-F238E27FC236}">
                    <a16:creationId xmlns:a16="http://schemas.microsoft.com/office/drawing/2014/main" id="{6F7AF186-C705-2EE0-6FA2-E45F431C794E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3" name="Rounded Rectangle 252">
                <a:extLst>
                  <a:ext uri="{FF2B5EF4-FFF2-40B4-BE49-F238E27FC236}">
                    <a16:creationId xmlns:a16="http://schemas.microsoft.com/office/drawing/2014/main" id="{60A30B82-938D-8968-92FE-35AB6A8049F4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4" name="Rounded Rectangle 253">
                <a:extLst>
                  <a:ext uri="{FF2B5EF4-FFF2-40B4-BE49-F238E27FC236}">
                    <a16:creationId xmlns:a16="http://schemas.microsoft.com/office/drawing/2014/main" id="{838CA0EC-77CE-6D7D-02D1-9C944DCC7615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5" name="Rounded Rectangle 254">
                <a:extLst>
                  <a:ext uri="{FF2B5EF4-FFF2-40B4-BE49-F238E27FC236}">
                    <a16:creationId xmlns:a16="http://schemas.microsoft.com/office/drawing/2014/main" id="{3D6003AC-B48D-D5FA-AC88-AD5303C3502E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48" name="Rounded Rectangle 247">
              <a:extLst>
                <a:ext uri="{FF2B5EF4-FFF2-40B4-BE49-F238E27FC236}">
                  <a16:creationId xmlns:a16="http://schemas.microsoft.com/office/drawing/2014/main" id="{752A39BD-53D0-DB08-1304-CD990AD05C75}"/>
                </a:ext>
              </a:extLst>
            </p:cNvPr>
            <p:cNvSpPr/>
            <p:nvPr/>
          </p:nvSpPr>
          <p:spPr>
            <a:xfrm>
              <a:off x="15220704" y="16694762"/>
              <a:ext cx="4324406" cy="1687436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Trial Registries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Registration of the study with registries such as </a:t>
              </a:r>
              <a:r>
                <a:rPr lang="en-GB" sz="2613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CT.gov</a:t>
              </a:r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, CTIS etc.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81CE930-E843-26CA-5183-8C9572BB6DAB}"/>
              </a:ext>
            </a:extLst>
          </p:cNvPr>
          <p:cNvGrpSpPr/>
          <p:nvPr/>
        </p:nvGrpSpPr>
        <p:grpSpPr>
          <a:xfrm>
            <a:off x="6005360" y="18371374"/>
            <a:ext cx="5648915" cy="2204276"/>
            <a:chOff x="15220704" y="16694762"/>
            <a:chExt cx="4324406" cy="1687436"/>
          </a:xfrm>
        </p:grpSpPr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557D6667-EEC4-D5FB-F45B-EFBB153C94AF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59" name="Rounded Rectangle 258">
                <a:extLst>
                  <a:ext uri="{FF2B5EF4-FFF2-40B4-BE49-F238E27FC236}">
                    <a16:creationId xmlns:a16="http://schemas.microsoft.com/office/drawing/2014/main" id="{46086973-6E83-E30C-78CD-620488EFC405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60" name="Rounded Rectangle 259">
                <a:extLst>
                  <a:ext uri="{FF2B5EF4-FFF2-40B4-BE49-F238E27FC236}">
                    <a16:creationId xmlns:a16="http://schemas.microsoft.com/office/drawing/2014/main" id="{50175F90-EB37-A3DA-5F06-912CBDA6BCA1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1" name="Rounded Rectangle 260">
                <a:extLst>
                  <a:ext uri="{FF2B5EF4-FFF2-40B4-BE49-F238E27FC236}">
                    <a16:creationId xmlns:a16="http://schemas.microsoft.com/office/drawing/2014/main" id="{4733525E-E60B-21B3-966D-821ED8939BF3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2" name="Rounded Rectangle 261">
                <a:extLst>
                  <a:ext uri="{FF2B5EF4-FFF2-40B4-BE49-F238E27FC236}">
                    <a16:creationId xmlns:a16="http://schemas.microsoft.com/office/drawing/2014/main" id="{8FFAA516-CE79-9071-DFBA-FECBE61F1659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3" name="Rounded Rectangle 262">
                <a:extLst>
                  <a:ext uri="{FF2B5EF4-FFF2-40B4-BE49-F238E27FC236}">
                    <a16:creationId xmlns:a16="http://schemas.microsoft.com/office/drawing/2014/main" id="{31F69027-ACB4-A303-DFC8-4C2892643FDA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4" name="Rounded Rectangle 263">
                <a:extLst>
                  <a:ext uri="{FF2B5EF4-FFF2-40B4-BE49-F238E27FC236}">
                    <a16:creationId xmlns:a16="http://schemas.microsoft.com/office/drawing/2014/main" id="{48E00CE4-495F-89DA-72D6-0176B04988B1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5" name="Rounded Rectangle 264">
                <a:extLst>
                  <a:ext uri="{FF2B5EF4-FFF2-40B4-BE49-F238E27FC236}">
                    <a16:creationId xmlns:a16="http://schemas.microsoft.com/office/drawing/2014/main" id="{37656A2C-CC02-A3C2-84D0-29E9C7FF1D6C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58" name="Rounded Rectangle 257">
              <a:extLst>
                <a:ext uri="{FF2B5EF4-FFF2-40B4-BE49-F238E27FC236}">
                  <a16:creationId xmlns:a16="http://schemas.microsoft.com/office/drawing/2014/main" id="{DBB84715-74C3-1782-9B4B-E5CFE504933C}"/>
                </a:ext>
              </a:extLst>
            </p:cNvPr>
            <p:cNvSpPr/>
            <p:nvPr/>
          </p:nvSpPr>
          <p:spPr>
            <a:xfrm>
              <a:off x="15220704" y="16694762"/>
              <a:ext cx="4324406" cy="1687436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Training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Provision of training materials to those involved in the study including sites</a:t>
              </a: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B494873-AF29-C0D0-1E2C-886488BC4009}"/>
              </a:ext>
            </a:extLst>
          </p:cNvPr>
          <p:cNvGrpSpPr/>
          <p:nvPr/>
        </p:nvGrpSpPr>
        <p:grpSpPr>
          <a:xfrm>
            <a:off x="6026626" y="3231587"/>
            <a:ext cx="5648915" cy="5046178"/>
            <a:chOff x="9203810" y="6673867"/>
            <a:chExt cx="4324406" cy="3862993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EB2AB8AB-02DA-FA0D-8D7C-0E22EBB068A8}"/>
                </a:ext>
              </a:extLst>
            </p:cNvPr>
            <p:cNvGrpSpPr/>
            <p:nvPr/>
          </p:nvGrpSpPr>
          <p:grpSpPr>
            <a:xfrm>
              <a:off x="12313991" y="6790241"/>
              <a:ext cx="1061748" cy="1238986"/>
              <a:chOff x="8136941" y="5623858"/>
              <a:chExt cx="1061748" cy="1238986"/>
            </a:xfrm>
          </p:grpSpPr>
          <p:sp>
            <p:nvSpPr>
              <p:cNvPr id="269" name="Rounded Rectangle 268">
                <a:extLst>
                  <a:ext uri="{FF2B5EF4-FFF2-40B4-BE49-F238E27FC236}">
                    <a16:creationId xmlns:a16="http://schemas.microsoft.com/office/drawing/2014/main" id="{A12C0874-68A4-FE68-7BFB-88A6C8950F5C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70" name="Rounded Rectangle 269">
                <a:extLst>
                  <a:ext uri="{FF2B5EF4-FFF2-40B4-BE49-F238E27FC236}">
                    <a16:creationId xmlns:a16="http://schemas.microsoft.com/office/drawing/2014/main" id="{466ABE65-ADC3-2EE8-8522-F68283ABD90F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1" name="Rounded Rectangle 270">
                <a:extLst>
                  <a:ext uri="{FF2B5EF4-FFF2-40B4-BE49-F238E27FC236}">
                    <a16:creationId xmlns:a16="http://schemas.microsoft.com/office/drawing/2014/main" id="{03EE803F-A000-24C0-CB10-83A4BED53E76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4125BF52-F864-A0D3-1A00-0495AA5CBA8D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3" name="Rounded Rectangle 272">
                <a:extLst>
                  <a:ext uri="{FF2B5EF4-FFF2-40B4-BE49-F238E27FC236}">
                    <a16:creationId xmlns:a16="http://schemas.microsoft.com/office/drawing/2014/main" id="{A9CC57DB-FE03-3519-A808-321CC972D904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4" name="Rounded Rectangle 273">
                <a:extLst>
                  <a:ext uri="{FF2B5EF4-FFF2-40B4-BE49-F238E27FC236}">
                    <a16:creationId xmlns:a16="http://schemas.microsoft.com/office/drawing/2014/main" id="{1D828856-1D12-7F67-6CAB-C8F2BFAC367D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5" name="Rounded Rectangle 274">
                <a:extLst>
                  <a:ext uri="{FF2B5EF4-FFF2-40B4-BE49-F238E27FC236}">
                    <a16:creationId xmlns:a16="http://schemas.microsoft.com/office/drawing/2014/main" id="{58006A73-E99B-3D07-2767-A5E38828BEDD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68" name="Rounded Rectangle 267">
              <a:extLst>
                <a:ext uri="{FF2B5EF4-FFF2-40B4-BE49-F238E27FC236}">
                  <a16:creationId xmlns:a16="http://schemas.microsoft.com/office/drawing/2014/main" id="{38DEF776-3E78-E78A-2D41-80AEDFA8A069}"/>
                </a:ext>
              </a:extLst>
            </p:cNvPr>
            <p:cNvSpPr/>
            <p:nvPr/>
          </p:nvSpPr>
          <p:spPr>
            <a:xfrm>
              <a:off x="9203810" y="6673867"/>
              <a:ext cx="4324406" cy="3862993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7566" rIns="117566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Deployment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Deployment of the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study across the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enterprise using the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USDM to support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electronic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configuration rather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than manual data entry including Data collection systems  (incl. EDC), CTMS, IRT, Data transmission specifications and more</a:t>
              </a: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127E47D5-CF5B-766F-32CD-2E5FD8F7D150}"/>
              </a:ext>
            </a:extLst>
          </p:cNvPr>
          <p:cNvGrpSpPr/>
          <p:nvPr/>
        </p:nvGrpSpPr>
        <p:grpSpPr>
          <a:xfrm>
            <a:off x="11957376" y="8233394"/>
            <a:ext cx="5648915" cy="3016248"/>
            <a:chOff x="15220704" y="16694762"/>
            <a:chExt cx="4324406" cy="2309024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8CF8030B-1891-811D-2AD2-9154AAAD98A2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79" name="Rounded Rectangle 278">
                <a:extLst>
                  <a:ext uri="{FF2B5EF4-FFF2-40B4-BE49-F238E27FC236}">
                    <a16:creationId xmlns:a16="http://schemas.microsoft.com/office/drawing/2014/main" id="{A6C9D7D3-53E7-1845-BC4F-472BB3E8C478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80" name="Rounded Rectangle 279">
                <a:extLst>
                  <a:ext uri="{FF2B5EF4-FFF2-40B4-BE49-F238E27FC236}">
                    <a16:creationId xmlns:a16="http://schemas.microsoft.com/office/drawing/2014/main" id="{EE2C7191-0770-041A-729F-40363177A3A1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1" name="Rounded Rectangle 280">
                <a:extLst>
                  <a:ext uri="{FF2B5EF4-FFF2-40B4-BE49-F238E27FC236}">
                    <a16:creationId xmlns:a16="http://schemas.microsoft.com/office/drawing/2014/main" id="{AE0ED23E-6F41-118D-866B-E7C04524B04C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2" name="Rounded Rectangle 281">
                <a:extLst>
                  <a:ext uri="{FF2B5EF4-FFF2-40B4-BE49-F238E27FC236}">
                    <a16:creationId xmlns:a16="http://schemas.microsoft.com/office/drawing/2014/main" id="{2C20EC8B-7E2C-5A36-7BE6-B8A70D50B57B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3" name="Rounded Rectangle 282">
                <a:extLst>
                  <a:ext uri="{FF2B5EF4-FFF2-40B4-BE49-F238E27FC236}">
                    <a16:creationId xmlns:a16="http://schemas.microsoft.com/office/drawing/2014/main" id="{AEC919EB-E850-BAAA-AE8C-E6DF0635CC22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4" name="Rounded Rectangle 283">
                <a:extLst>
                  <a:ext uri="{FF2B5EF4-FFF2-40B4-BE49-F238E27FC236}">
                    <a16:creationId xmlns:a16="http://schemas.microsoft.com/office/drawing/2014/main" id="{7848741B-8A81-015B-F918-8ACC2550336A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85" name="Rounded Rectangle 284">
                <a:extLst>
                  <a:ext uri="{FF2B5EF4-FFF2-40B4-BE49-F238E27FC236}">
                    <a16:creationId xmlns:a16="http://schemas.microsoft.com/office/drawing/2014/main" id="{6A1799DC-0178-F9DE-653D-50FA49118DD0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78" name="Rounded Rectangle 277">
              <a:extLst>
                <a:ext uri="{FF2B5EF4-FFF2-40B4-BE49-F238E27FC236}">
                  <a16:creationId xmlns:a16="http://schemas.microsoft.com/office/drawing/2014/main" id="{D69C164B-6F4F-649C-2612-32B520FA63C8}"/>
                </a:ext>
              </a:extLst>
            </p:cNvPr>
            <p:cNvSpPr/>
            <p:nvPr/>
          </p:nvSpPr>
          <p:spPr>
            <a:xfrm>
              <a:off x="15220704" y="16694762"/>
              <a:ext cx="4324406" cy="2309024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Subject Information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Provision of improved information to subjects regarding study execution, improve expectation management.</a:t>
              </a: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BD16F8E1-9865-D87E-D0D0-9D84EDE55113}"/>
              </a:ext>
            </a:extLst>
          </p:cNvPr>
          <p:cNvGrpSpPr/>
          <p:nvPr/>
        </p:nvGrpSpPr>
        <p:grpSpPr>
          <a:xfrm>
            <a:off x="11960854" y="3243723"/>
            <a:ext cx="5648915" cy="4640191"/>
            <a:chOff x="15220704" y="16694762"/>
            <a:chExt cx="4324406" cy="3552199"/>
          </a:xfrm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402F0C06-716F-0838-741C-EEAFDD532662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89" name="Rounded Rectangle 288">
                <a:extLst>
                  <a:ext uri="{FF2B5EF4-FFF2-40B4-BE49-F238E27FC236}">
                    <a16:creationId xmlns:a16="http://schemas.microsoft.com/office/drawing/2014/main" id="{891219F3-45D3-58E3-4840-8BAF7497D1B4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90" name="Rounded Rectangle 289">
                <a:extLst>
                  <a:ext uri="{FF2B5EF4-FFF2-40B4-BE49-F238E27FC236}">
                    <a16:creationId xmlns:a16="http://schemas.microsoft.com/office/drawing/2014/main" id="{411875ED-EB19-B110-DB39-5F94D115ECDB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1" name="Rounded Rectangle 290">
                <a:extLst>
                  <a:ext uri="{FF2B5EF4-FFF2-40B4-BE49-F238E27FC236}">
                    <a16:creationId xmlns:a16="http://schemas.microsoft.com/office/drawing/2014/main" id="{610AF708-D1EA-E6F4-F306-0482ED4EBAAC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2" name="Rounded Rectangle 291">
                <a:extLst>
                  <a:ext uri="{FF2B5EF4-FFF2-40B4-BE49-F238E27FC236}">
                    <a16:creationId xmlns:a16="http://schemas.microsoft.com/office/drawing/2014/main" id="{F0BD9510-1C14-2F22-E51B-58C2A44F457A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3" name="Rounded Rectangle 292">
                <a:extLst>
                  <a:ext uri="{FF2B5EF4-FFF2-40B4-BE49-F238E27FC236}">
                    <a16:creationId xmlns:a16="http://schemas.microsoft.com/office/drawing/2014/main" id="{044C8E58-A5C8-9D8D-AFCF-79304AA69CD2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4" name="Rounded Rectangle 293">
                <a:extLst>
                  <a:ext uri="{FF2B5EF4-FFF2-40B4-BE49-F238E27FC236}">
                    <a16:creationId xmlns:a16="http://schemas.microsoft.com/office/drawing/2014/main" id="{0B6DE37E-F7C1-8E05-F1E0-609D00BC80AD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95" name="Rounded Rectangle 294">
                <a:extLst>
                  <a:ext uri="{FF2B5EF4-FFF2-40B4-BE49-F238E27FC236}">
                    <a16:creationId xmlns:a16="http://schemas.microsoft.com/office/drawing/2014/main" id="{793A24ED-5937-464B-F8A1-D915F8C49B16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88" name="Rounded Rectangle 287">
              <a:extLst>
                <a:ext uri="{FF2B5EF4-FFF2-40B4-BE49-F238E27FC236}">
                  <a16:creationId xmlns:a16="http://schemas.microsoft.com/office/drawing/2014/main" id="{280E7B2D-BB57-79DF-BE2D-817539BE539F}"/>
                </a:ext>
              </a:extLst>
            </p:cNvPr>
            <p:cNvSpPr/>
            <p:nvPr/>
          </p:nvSpPr>
          <p:spPr>
            <a:xfrm>
              <a:off x="15220704" y="16694762"/>
              <a:ext cx="4324406" cy="3552199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Amendments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Support the amendment process with the ability to indicate the precise changes to the user community.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Ensure fewer amendments (see Protocol Store).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8483C584-832F-FA44-BC95-251A231DE894}"/>
              </a:ext>
            </a:extLst>
          </p:cNvPr>
          <p:cNvGrpSpPr/>
          <p:nvPr/>
        </p:nvGrpSpPr>
        <p:grpSpPr>
          <a:xfrm>
            <a:off x="17884239" y="3228163"/>
            <a:ext cx="5648915" cy="2610262"/>
            <a:chOff x="15220704" y="16694762"/>
            <a:chExt cx="4324406" cy="1998230"/>
          </a:xfrm>
        </p:grpSpPr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B06B5164-1DE0-A38C-8271-5E1813904413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299" name="Rounded Rectangle 298">
                <a:extLst>
                  <a:ext uri="{FF2B5EF4-FFF2-40B4-BE49-F238E27FC236}">
                    <a16:creationId xmlns:a16="http://schemas.microsoft.com/office/drawing/2014/main" id="{E7D021DE-32F6-0821-AF5A-62C754F799C0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00" name="Rounded Rectangle 299">
                <a:extLst>
                  <a:ext uri="{FF2B5EF4-FFF2-40B4-BE49-F238E27FC236}">
                    <a16:creationId xmlns:a16="http://schemas.microsoft.com/office/drawing/2014/main" id="{29EEF524-6030-5B64-0698-4B18582A9589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1" name="Rounded Rectangle 300">
                <a:extLst>
                  <a:ext uri="{FF2B5EF4-FFF2-40B4-BE49-F238E27FC236}">
                    <a16:creationId xmlns:a16="http://schemas.microsoft.com/office/drawing/2014/main" id="{2642D233-7C23-9BE6-380E-BD00A8C6E6C2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2" name="Rounded Rectangle 301">
                <a:extLst>
                  <a:ext uri="{FF2B5EF4-FFF2-40B4-BE49-F238E27FC236}">
                    <a16:creationId xmlns:a16="http://schemas.microsoft.com/office/drawing/2014/main" id="{56C19480-B80F-8C17-CC07-8B67A69FE8C3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3" name="Rounded Rectangle 302">
                <a:extLst>
                  <a:ext uri="{FF2B5EF4-FFF2-40B4-BE49-F238E27FC236}">
                    <a16:creationId xmlns:a16="http://schemas.microsoft.com/office/drawing/2014/main" id="{A87C0000-3803-EBF0-26AB-96F2DC665CEC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4" name="Rounded Rectangle 303">
                <a:extLst>
                  <a:ext uri="{FF2B5EF4-FFF2-40B4-BE49-F238E27FC236}">
                    <a16:creationId xmlns:a16="http://schemas.microsoft.com/office/drawing/2014/main" id="{F100EA50-B72F-41EC-E813-0E14EC26B21F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5" name="Rounded Rectangle 304">
                <a:extLst>
                  <a:ext uri="{FF2B5EF4-FFF2-40B4-BE49-F238E27FC236}">
                    <a16:creationId xmlns:a16="http://schemas.microsoft.com/office/drawing/2014/main" id="{B6F046E4-B937-62B7-33D8-CDB9165F7262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98" name="Rounded Rectangle 297">
              <a:extLst>
                <a:ext uri="{FF2B5EF4-FFF2-40B4-BE49-F238E27FC236}">
                  <a16:creationId xmlns:a16="http://schemas.microsoft.com/office/drawing/2014/main" id="{51A8F07C-9AEC-A1A3-2E64-F3985DB30C79}"/>
                </a:ext>
              </a:extLst>
            </p:cNvPr>
            <p:cNvSpPr/>
            <p:nvPr/>
          </p:nvSpPr>
          <p:spPr>
            <a:xfrm>
              <a:off x="15220704" y="16694762"/>
              <a:ext cx="4324406" cy="1998230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Automation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Provide a solid foundation for the  automation of analysis and reporting outputs such as TLFs and CSRs.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3C73E063-1E98-B536-9267-C7553B115AAF}"/>
              </a:ext>
            </a:extLst>
          </p:cNvPr>
          <p:cNvGrpSpPr/>
          <p:nvPr/>
        </p:nvGrpSpPr>
        <p:grpSpPr>
          <a:xfrm>
            <a:off x="23753880" y="3200761"/>
            <a:ext cx="5648915" cy="2204276"/>
            <a:chOff x="15220704" y="16694762"/>
            <a:chExt cx="4324406" cy="1687436"/>
          </a:xfrm>
        </p:grpSpPr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6D800797-9951-C0C3-61E7-F6163C0BAEC6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310" name="Rounded Rectangle 309">
                <a:extLst>
                  <a:ext uri="{FF2B5EF4-FFF2-40B4-BE49-F238E27FC236}">
                    <a16:creationId xmlns:a16="http://schemas.microsoft.com/office/drawing/2014/main" id="{5557DEAD-078A-CDCB-99CF-4C15F5B5F286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11" name="Rounded Rectangle 310">
                <a:extLst>
                  <a:ext uri="{FF2B5EF4-FFF2-40B4-BE49-F238E27FC236}">
                    <a16:creationId xmlns:a16="http://schemas.microsoft.com/office/drawing/2014/main" id="{4DB2DF26-F993-703D-7AB4-104BF8F11346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2" name="Rounded Rectangle 311">
                <a:extLst>
                  <a:ext uri="{FF2B5EF4-FFF2-40B4-BE49-F238E27FC236}">
                    <a16:creationId xmlns:a16="http://schemas.microsoft.com/office/drawing/2014/main" id="{385D1FAC-C9AD-0E1F-4B9E-13D86C4373E8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3" name="Rounded Rectangle 312">
                <a:extLst>
                  <a:ext uri="{FF2B5EF4-FFF2-40B4-BE49-F238E27FC236}">
                    <a16:creationId xmlns:a16="http://schemas.microsoft.com/office/drawing/2014/main" id="{009756AB-A5E5-F476-4D00-C0E01204F0F3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4" name="Rounded Rectangle 313">
                <a:extLst>
                  <a:ext uri="{FF2B5EF4-FFF2-40B4-BE49-F238E27FC236}">
                    <a16:creationId xmlns:a16="http://schemas.microsoft.com/office/drawing/2014/main" id="{D1B0FDF7-4DC5-5B25-4DD6-89152F0C1688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5" name="Rounded Rectangle 314">
                <a:extLst>
                  <a:ext uri="{FF2B5EF4-FFF2-40B4-BE49-F238E27FC236}">
                    <a16:creationId xmlns:a16="http://schemas.microsoft.com/office/drawing/2014/main" id="{C08EE796-1301-E9C9-E973-08971D956D5E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6" name="Rounded Rectangle 315">
                <a:extLst>
                  <a:ext uri="{FF2B5EF4-FFF2-40B4-BE49-F238E27FC236}">
                    <a16:creationId xmlns:a16="http://schemas.microsoft.com/office/drawing/2014/main" id="{2E44907E-866F-C5D6-8781-509AA6C98C80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09" name="Rounded Rectangle 308">
              <a:extLst>
                <a:ext uri="{FF2B5EF4-FFF2-40B4-BE49-F238E27FC236}">
                  <a16:creationId xmlns:a16="http://schemas.microsoft.com/office/drawing/2014/main" id="{32067E1C-A3D6-6E6B-65D9-D100B4024E87}"/>
                </a:ext>
              </a:extLst>
            </p:cNvPr>
            <p:cNvSpPr/>
            <p:nvPr/>
          </p:nvSpPr>
          <p:spPr>
            <a:xfrm>
              <a:off x="15220704" y="16694762"/>
              <a:ext cx="4324406" cy="1687436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Submission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Preparation of the submission by the sponsor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344" name="Rounded Rectangle 343">
            <a:extLst>
              <a:ext uri="{FF2B5EF4-FFF2-40B4-BE49-F238E27FC236}">
                <a16:creationId xmlns:a16="http://schemas.microsoft.com/office/drawing/2014/main" id="{0985E804-5F92-EF54-9BC8-093413E91041}"/>
              </a:ext>
            </a:extLst>
          </p:cNvPr>
          <p:cNvSpPr/>
          <p:nvPr/>
        </p:nvSpPr>
        <p:spPr>
          <a:xfrm>
            <a:off x="-5473917" y="25866293"/>
            <a:ext cx="44061965" cy="905198"/>
          </a:xfrm>
          <a:prstGeom prst="roundRect">
            <a:avLst>
              <a:gd name="adj" fmla="val 2312"/>
            </a:avLst>
          </a:prstGeom>
          <a:noFill/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Ins="117566" rtlCol="0" anchor="t">
            <a:spAutoFit/>
          </a:bodyPr>
          <a:lstStyle/>
          <a:p>
            <a:pPr algn="ctr"/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Version 6, 16</a:t>
            </a:r>
            <a:r>
              <a:rPr lang="en-GB" sz="2613" baseline="300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April 2025. Prepared by D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Iberson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-Hurst for the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TransCelerate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‘DDF in Action’ day. </a:t>
            </a:r>
            <a:b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With thanks to Rob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Ferendo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TransCelerate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), Bill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Illis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Novartos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), Jasmine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Kestemont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Argenx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), Kirsten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Langendorf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(d4k), Mary Lynn Mercado (Novartis), Lissa Morgan (Amgen), Johannes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Ullander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(d4k) and Peter Van </a:t>
            </a:r>
            <a:r>
              <a:rPr lang="en-GB" sz="2613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Reusel</a:t>
            </a:r>
            <a:r>
              <a: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(CDISC)</a:t>
            </a:r>
            <a:endParaRPr lang="en-GB" sz="3135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6C684152-9B1A-560E-30FC-644B0092BFB7}"/>
              </a:ext>
            </a:extLst>
          </p:cNvPr>
          <p:cNvGrpSpPr/>
          <p:nvPr/>
        </p:nvGrpSpPr>
        <p:grpSpPr>
          <a:xfrm>
            <a:off x="23753880" y="5745090"/>
            <a:ext cx="5648915" cy="3016248"/>
            <a:chOff x="15220704" y="16694762"/>
            <a:chExt cx="4324406" cy="2309024"/>
          </a:xfrm>
        </p:grpSpPr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F4ED9607-AB6E-A466-E6F8-4B299118A0AA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349" name="Rounded Rectangle 348">
                <a:extLst>
                  <a:ext uri="{FF2B5EF4-FFF2-40B4-BE49-F238E27FC236}">
                    <a16:creationId xmlns:a16="http://schemas.microsoft.com/office/drawing/2014/main" id="{323D11A0-47A6-8E99-7FC6-2B2B638FAF44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50" name="Rounded Rectangle 349">
                <a:extLst>
                  <a:ext uri="{FF2B5EF4-FFF2-40B4-BE49-F238E27FC236}">
                    <a16:creationId xmlns:a16="http://schemas.microsoft.com/office/drawing/2014/main" id="{A00CE4BF-3FE8-5EAA-D527-799264C83A12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51" name="Rounded Rectangle 350">
                <a:extLst>
                  <a:ext uri="{FF2B5EF4-FFF2-40B4-BE49-F238E27FC236}">
                    <a16:creationId xmlns:a16="http://schemas.microsoft.com/office/drawing/2014/main" id="{931EF716-D73A-01AF-C717-42D4A929FAF5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52" name="Rounded Rectangle 351">
                <a:extLst>
                  <a:ext uri="{FF2B5EF4-FFF2-40B4-BE49-F238E27FC236}">
                    <a16:creationId xmlns:a16="http://schemas.microsoft.com/office/drawing/2014/main" id="{657B9184-BD5C-58BA-99F9-14543E6B3009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53" name="Rounded Rectangle 352">
                <a:extLst>
                  <a:ext uri="{FF2B5EF4-FFF2-40B4-BE49-F238E27FC236}">
                    <a16:creationId xmlns:a16="http://schemas.microsoft.com/office/drawing/2014/main" id="{7A6761D7-3DA2-0529-E8D2-34A9F999B8C1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54" name="Rounded Rectangle 353">
                <a:extLst>
                  <a:ext uri="{FF2B5EF4-FFF2-40B4-BE49-F238E27FC236}">
                    <a16:creationId xmlns:a16="http://schemas.microsoft.com/office/drawing/2014/main" id="{AF087684-C944-D689-AEC0-FFFFF2FEBA58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55" name="Rounded Rectangle 354">
                <a:extLst>
                  <a:ext uri="{FF2B5EF4-FFF2-40B4-BE49-F238E27FC236}">
                    <a16:creationId xmlns:a16="http://schemas.microsoft.com/office/drawing/2014/main" id="{41DB4A84-C9EA-F77E-1E83-39AC97712C46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48" name="Rounded Rectangle 347">
              <a:extLst>
                <a:ext uri="{FF2B5EF4-FFF2-40B4-BE49-F238E27FC236}">
                  <a16:creationId xmlns:a16="http://schemas.microsoft.com/office/drawing/2014/main" id="{B00B2F7E-1C0F-1593-8D08-7CCA03B9BA8F}"/>
                </a:ext>
              </a:extLst>
            </p:cNvPr>
            <p:cNvSpPr/>
            <p:nvPr/>
          </p:nvSpPr>
          <p:spPr>
            <a:xfrm>
              <a:off x="15220704" y="16694762"/>
              <a:ext cx="4324406" cy="2309024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Regulatory Review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Review of the submission by the regulatory authority and discussions / questions with the sponsor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8E982282-206D-4CA0-E86C-0099EB4897FB}"/>
              </a:ext>
            </a:extLst>
          </p:cNvPr>
          <p:cNvGrpSpPr/>
          <p:nvPr/>
        </p:nvGrpSpPr>
        <p:grpSpPr>
          <a:xfrm>
            <a:off x="17887508" y="6171247"/>
            <a:ext cx="5648915" cy="2610262"/>
            <a:chOff x="15220704" y="16694762"/>
            <a:chExt cx="4324406" cy="1998230"/>
          </a:xfrm>
        </p:grpSpPr>
        <p:grpSp>
          <p:nvGrpSpPr>
            <p:cNvPr id="357" name="Group 356">
              <a:extLst>
                <a:ext uri="{FF2B5EF4-FFF2-40B4-BE49-F238E27FC236}">
                  <a16:creationId xmlns:a16="http://schemas.microsoft.com/office/drawing/2014/main" id="{DEB101B6-032C-2DD9-A766-4FC8E15BD6DC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359" name="Rounded Rectangle 358">
                <a:extLst>
                  <a:ext uri="{FF2B5EF4-FFF2-40B4-BE49-F238E27FC236}">
                    <a16:creationId xmlns:a16="http://schemas.microsoft.com/office/drawing/2014/main" id="{FA102A5F-6E32-B269-2995-85FD52AA51A8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60" name="Rounded Rectangle 359">
                <a:extLst>
                  <a:ext uri="{FF2B5EF4-FFF2-40B4-BE49-F238E27FC236}">
                    <a16:creationId xmlns:a16="http://schemas.microsoft.com/office/drawing/2014/main" id="{C569565F-6055-FF05-D749-1730A8BEB161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61" name="Rounded Rectangle 360">
                <a:extLst>
                  <a:ext uri="{FF2B5EF4-FFF2-40B4-BE49-F238E27FC236}">
                    <a16:creationId xmlns:a16="http://schemas.microsoft.com/office/drawing/2014/main" id="{7AB6C6DA-C5DF-7BEF-5272-0EF7189B305D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62" name="Rounded Rectangle 361">
                <a:extLst>
                  <a:ext uri="{FF2B5EF4-FFF2-40B4-BE49-F238E27FC236}">
                    <a16:creationId xmlns:a16="http://schemas.microsoft.com/office/drawing/2014/main" id="{D3DA8A2E-7290-1025-EFBD-F109B29FAD00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63" name="Rounded Rectangle 362">
                <a:extLst>
                  <a:ext uri="{FF2B5EF4-FFF2-40B4-BE49-F238E27FC236}">
                    <a16:creationId xmlns:a16="http://schemas.microsoft.com/office/drawing/2014/main" id="{6FA21BFF-4DD3-EE9D-F230-9917E703ABD4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64" name="Rounded Rectangle 363">
                <a:extLst>
                  <a:ext uri="{FF2B5EF4-FFF2-40B4-BE49-F238E27FC236}">
                    <a16:creationId xmlns:a16="http://schemas.microsoft.com/office/drawing/2014/main" id="{2F3142DD-F59A-F98E-5CB3-81775CD31304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65" name="Rounded Rectangle 364">
                <a:extLst>
                  <a:ext uri="{FF2B5EF4-FFF2-40B4-BE49-F238E27FC236}">
                    <a16:creationId xmlns:a16="http://schemas.microsoft.com/office/drawing/2014/main" id="{14766BA1-DD53-A737-5023-B2CF355257A0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58" name="Rounded Rectangle 357">
              <a:extLst>
                <a:ext uri="{FF2B5EF4-FFF2-40B4-BE49-F238E27FC236}">
                  <a16:creationId xmlns:a16="http://schemas.microsoft.com/office/drawing/2014/main" id="{F7812200-17F4-D615-421D-3E38529AE524}"/>
                </a:ext>
              </a:extLst>
            </p:cNvPr>
            <p:cNvSpPr/>
            <p:nvPr/>
          </p:nvSpPr>
          <p:spPr>
            <a:xfrm>
              <a:off x="15220704" y="16694762"/>
              <a:ext cx="4324406" cy="1998230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SDTM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Creation of ‘T’ domains. Auto generation of data domains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7B52A593-A47A-DDAC-E87D-20122C912511}"/>
              </a:ext>
            </a:extLst>
          </p:cNvPr>
          <p:cNvGrpSpPr/>
          <p:nvPr/>
        </p:nvGrpSpPr>
        <p:grpSpPr>
          <a:xfrm>
            <a:off x="17886215" y="9546176"/>
            <a:ext cx="5648915" cy="2610262"/>
            <a:chOff x="15233404" y="16669362"/>
            <a:chExt cx="4324406" cy="1998230"/>
          </a:xfrm>
        </p:grpSpPr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7DC63FDD-9E1A-0B2C-D909-959DE79D94CC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369" name="Rounded Rectangle 368">
                <a:extLst>
                  <a:ext uri="{FF2B5EF4-FFF2-40B4-BE49-F238E27FC236}">
                    <a16:creationId xmlns:a16="http://schemas.microsoft.com/office/drawing/2014/main" id="{66E0E83F-EE4D-DFE5-836F-DDFC3C8872A2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70" name="Rounded Rectangle 369">
                <a:extLst>
                  <a:ext uri="{FF2B5EF4-FFF2-40B4-BE49-F238E27FC236}">
                    <a16:creationId xmlns:a16="http://schemas.microsoft.com/office/drawing/2014/main" id="{EA947FB9-FC30-EAC5-C238-27F4543C8F32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1" name="Rounded Rectangle 370">
                <a:extLst>
                  <a:ext uri="{FF2B5EF4-FFF2-40B4-BE49-F238E27FC236}">
                    <a16:creationId xmlns:a16="http://schemas.microsoft.com/office/drawing/2014/main" id="{F2DBB4A2-8102-D138-C46A-7960F4F05079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2" name="Rounded Rectangle 371">
                <a:extLst>
                  <a:ext uri="{FF2B5EF4-FFF2-40B4-BE49-F238E27FC236}">
                    <a16:creationId xmlns:a16="http://schemas.microsoft.com/office/drawing/2014/main" id="{53720494-64D9-3256-F528-3BC7D8BA0E06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3" name="Rounded Rectangle 372">
                <a:extLst>
                  <a:ext uri="{FF2B5EF4-FFF2-40B4-BE49-F238E27FC236}">
                    <a16:creationId xmlns:a16="http://schemas.microsoft.com/office/drawing/2014/main" id="{0B9CA903-9599-4C6B-D778-3EAC705AF8F7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4" name="Rounded Rectangle 373">
                <a:extLst>
                  <a:ext uri="{FF2B5EF4-FFF2-40B4-BE49-F238E27FC236}">
                    <a16:creationId xmlns:a16="http://schemas.microsoft.com/office/drawing/2014/main" id="{94286F03-129F-9A90-84D9-77781D80CEFF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75" name="Rounded Rectangle 374">
                <a:extLst>
                  <a:ext uri="{FF2B5EF4-FFF2-40B4-BE49-F238E27FC236}">
                    <a16:creationId xmlns:a16="http://schemas.microsoft.com/office/drawing/2014/main" id="{B4F1A701-118C-85F1-9C0B-0319F807296E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68" name="Rounded Rectangle 367">
              <a:extLst>
                <a:ext uri="{FF2B5EF4-FFF2-40B4-BE49-F238E27FC236}">
                  <a16:creationId xmlns:a16="http://schemas.microsoft.com/office/drawing/2014/main" id="{C92186C1-6021-35A1-17D9-7CE9FC50ADBD}"/>
                </a:ext>
              </a:extLst>
            </p:cNvPr>
            <p:cNvSpPr/>
            <p:nvPr/>
          </p:nvSpPr>
          <p:spPr>
            <a:xfrm>
              <a:off x="15233404" y="16669362"/>
              <a:ext cx="4324406" cy="1998230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ADaM</a:t>
              </a:r>
              <a:endParaRPr lang="en-GB" sz="3135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Use the protocol statistical metadata to assist in the derivation of analysis datasets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1C20B59-3D2A-0E43-8386-38C590DCC7E1}"/>
              </a:ext>
            </a:extLst>
          </p:cNvPr>
          <p:cNvGrpSpPr/>
          <p:nvPr/>
        </p:nvGrpSpPr>
        <p:grpSpPr>
          <a:xfrm>
            <a:off x="11957376" y="11616320"/>
            <a:ext cx="5648915" cy="2691381"/>
            <a:chOff x="15220704" y="16694762"/>
            <a:chExt cx="4324406" cy="20603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0C7F62-928A-7DEC-0894-5DFE1BB20266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F78CA26-1098-9342-5D8F-105794E1A464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197CC124-2DC4-49AB-8487-2B7724C9ECB3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F5BD505B-1243-FCD4-E84C-59E437A0F4E6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04BB5EE-9593-0077-5B7F-CE1F940223BE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C3770E19-8ED9-C7F6-7D7B-0C6258DE252C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C8E10773-4CD4-EA6D-ED46-067BE8784EE0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9AA2D311-522B-CBD9-AE55-D5C31047FD82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9AE2E585-42D7-755C-913D-B58E3E1AE2F5}"/>
                </a:ext>
              </a:extLst>
            </p:cNvPr>
            <p:cNvSpPr/>
            <p:nvPr/>
          </p:nvSpPr>
          <p:spPr>
            <a:xfrm>
              <a:off x="15220704" y="16694762"/>
              <a:ext cx="4324406" cy="2060329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Drug &amp; Study Materials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Assist in the planning and provision of study drug, materials and supplies </a:t>
              </a: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D7AFC344-F5D1-4EB6-5B65-2D0C7F854270}"/>
              </a:ext>
            </a:extLst>
          </p:cNvPr>
          <p:cNvGrpSpPr/>
          <p:nvPr/>
        </p:nvGrpSpPr>
        <p:grpSpPr>
          <a:xfrm>
            <a:off x="11957376" y="14671940"/>
            <a:ext cx="5648915" cy="4315325"/>
            <a:chOff x="13743968" y="15431783"/>
            <a:chExt cx="4324406" cy="330350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E0936FC-3CC7-BD46-0B5A-B08DDAB9AA11}"/>
                </a:ext>
              </a:extLst>
            </p:cNvPr>
            <p:cNvGrpSpPr/>
            <p:nvPr/>
          </p:nvGrpSpPr>
          <p:grpSpPr>
            <a:xfrm>
              <a:off x="16854149" y="15548157"/>
              <a:ext cx="1061748" cy="1238986"/>
              <a:chOff x="8136941" y="5623858"/>
              <a:chExt cx="1061748" cy="1238986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0234F8AD-9621-1DB9-71FE-96A0A0B3D4FD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4916D694-3403-6DE8-1C6A-01FAD35D1C1D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5EFEF64F-DFFF-FBE0-1D44-53A282890CEB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" name="Rounded Rectangle 25">
                <a:extLst>
                  <a:ext uri="{FF2B5EF4-FFF2-40B4-BE49-F238E27FC236}">
                    <a16:creationId xmlns:a16="http://schemas.microsoft.com/office/drawing/2014/main" id="{789BB3C2-03B6-24EF-7550-9D874C6F0F8F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429CA11C-4192-AA60-5C07-8B20BF34FF2E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5DA5F5FF-32E3-137F-CBF2-FE5083C05573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DC66562-4AAF-2E61-8CA9-B76398EF0391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8890BE0F-C814-3DCF-CF25-D6B1EEF2B1FF}"/>
                </a:ext>
              </a:extLst>
            </p:cNvPr>
            <p:cNvSpPr/>
            <p:nvPr/>
          </p:nvSpPr>
          <p:spPr>
            <a:xfrm>
              <a:off x="13743968" y="15431783"/>
              <a:ext cx="4324406" cy="3303504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Subject Recruitment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Support the identification of subjects to help improve subject recruitment to the study. Help support EHR participation identification.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1CCEEC-A18D-7673-1732-272CFA7D7FC8}"/>
              </a:ext>
            </a:extLst>
          </p:cNvPr>
          <p:cNvGrpSpPr/>
          <p:nvPr/>
        </p:nvGrpSpPr>
        <p:grpSpPr>
          <a:xfrm>
            <a:off x="48990" y="13601008"/>
            <a:ext cx="5648915" cy="3828219"/>
            <a:chOff x="15220704" y="16694762"/>
            <a:chExt cx="4324406" cy="293061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8FD430B-393F-BF2E-A55B-0AA71E03FB9E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73E76114-5695-A52B-9D0A-7DE948016A7C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EC832CE2-AC02-D38A-D764-CB11213FF897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6CA07363-41CC-E8C8-9774-F5B36D5A15E7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1C159A32-0DE3-F907-5EE9-21F819F714BB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E16BAE5-6D2E-F60F-7FE7-071F82CE7766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44" name="Rounded Rectangle 43">
                <a:extLst>
                  <a:ext uri="{FF2B5EF4-FFF2-40B4-BE49-F238E27FC236}">
                    <a16:creationId xmlns:a16="http://schemas.microsoft.com/office/drawing/2014/main" id="{D8FF0B6E-A154-D00B-E436-E0E2D70B5A4A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E2F1D18B-2607-8A82-325F-B23A49472801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C87E5244-2BD8-38B0-6369-76F5C03E87F3}"/>
                </a:ext>
              </a:extLst>
            </p:cNvPr>
            <p:cNvSpPr/>
            <p:nvPr/>
          </p:nvSpPr>
          <p:spPr>
            <a:xfrm>
              <a:off x="15220704" y="16694762"/>
              <a:ext cx="4324406" cy="2930611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17566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Feasibility &amp; Cost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Support study feasibility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and complexity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evaluations. 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Determine the cost of the study including such items as vendor and CRO costs and support the laboratory RFP process 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F125DBD-CCE8-0AD5-8692-5C619A1D4025}"/>
              </a:ext>
            </a:extLst>
          </p:cNvPr>
          <p:cNvGrpSpPr/>
          <p:nvPr/>
        </p:nvGrpSpPr>
        <p:grpSpPr>
          <a:xfrm>
            <a:off x="58021" y="21242282"/>
            <a:ext cx="5648915" cy="2204276"/>
            <a:chOff x="15220704" y="16694762"/>
            <a:chExt cx="4324406" cy="1687436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15E873B-4A69-317F-B6C2-C10C0848FD91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E9909506-2BF3-C509-9F4C-28AE493D16FB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61B02E6C-8172-5C01-FF83-7A53ABD9249A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3151B9EC-E6E6-4E4F-B1F3-DC7ACAD9CBC2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DC8A7806-DD09-FCED-0A60-B285A5206937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2F65084B-A2B9-9440-9787-FA6AB596DC77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4418D593-B145-AED8-E2B7-1F5DD1AB0093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48029E30-C6C0-6DCF-A1E4-EC0CED0A38D1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F7A02BC8-38E9-BB06-425B-D2AFE9AACBD6}"/>
                </a:ext>
              </a:extLst>
            </p:cNvPr>
            <p:cNvSpPr/>
            <p:nvPr/>
          </p:nvSpPr>
          <p:spPr>
            <a:xfrm>
              <a:off x="15220704" y="16694762"/>
              <a:ext cx="4324406" cy="1687436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Stakeholder Views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Tailored views for stakeholders such as IRB and ethic committees.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DF21F5-549A-BD1F-04F3-216F8701CECF}"/>
              </a:ext>
            </a:extLst>
          </p:cNvPr>
          <p:cNvGrpSpPr/>
          <p:nvPr/>
        </p:nvGrpSpPr>
        <p:grpSpPr>
          <a:xfrm>
            <a:off x="6001214" y="11562636"/>
            <a:ext cx="5648915" cy="3909339"/>
            <a:chOff x="15220704" y="16694762"/>
            <a:chExt cx="4324406" cy="299271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7ECBF70-94B1-3D52-F84F-7B21DB1FB96F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C2C9B26F-B3D0-2F14-89BA-9A474639BBAD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30" name="Rounded Rectangle 129">
                <a:extLst>
                  <a:ext uri="{FF2B5EF4-FFF2-40B4-BE49-F238E27FC236}">
                    <a16:creationId xmlns:a16="http://schemas.microsoft.com/office/drawing/2014/main" id="{2A3EE221-6209-BCC6-0209-0DA930E67068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1" name="Rounded Rectangle 130">
                <a:extLst>
                  <a:ext uri="{FF2B5EF4-FFF2-40B4-BE49-F238E27FC236}">
                    <a16:creationId xmlns:a16="http://schemas.microsoft.com/office/drawing/2014/main" id="{848F23AB-7B71-CC69-8981-D7BA6FC0F178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2" name="Rounded Rectangle 131">
                <a:extLst>
                  <a:ext uri="{FF2B5EF4-FFF2-40B4-BE49-F238E27FC236}">
                    <a16:creationId xmlns:a16="http://schemas.microsoft.com/office/drawing/2014/main" id="{BFDF203B-3ECD-E809-798D-E8EA190329CB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3" name="Rounded Rectangle 132">
                <a:extLst>
                  <a:ext uri="{FF2B5EF4-FFF2-40B4-BE49-F238E27FC236}">
                    <a16:creationId xmlns:a16="http://schemas.microsoft.com/office/drawing/2014/main" id="{D8CD29E1-6F72-26DE-3B82-244F3FD0623E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4" name="Rounded Rectangle 133">
                <a:extLst>
                  <a:ext uri="{FF2B5EF4-FFF2-40B4-BE49-F238E27FC236}">
                    <a16:creationId xmlns:a16="http://schemas.microsoft.com/office/drawing/2014/main" id="{3C3B92F2-50D9-2060-A607-1279A9B4E921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35" name="Rounded Rectangle 134">
                <a:extLst>
                  <a:ext uri="{FF2B5EF4-FFF2-40B4-BE49-F238E27FC236}">
                    <a16:creationId xmlns:a16="http://schemas.microsoft.com/office/drawing/2014/main" id="{09239802-647E-98FA-A6C6-3598F8168612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6D43507D-B53B-DC4E-B61C-4EABED2F974C}"/>
                </a:ext>
              </a:extLst>
            </p:cNvPr>
            <p:cNvSpPr/>
            <p:nvPr/>
          </p:nvSpPr>
          <p:spPr>
            <a:xfrm>
              <a:off x="15220704" y="16694762"/>
              <a:ext cx="4324406" cy="2992711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7566" rIns="117566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Data Collection </a:t>
              </a:r>
            </a:p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Strategy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Ensure all data that is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needed for analysis is collected. Remove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unnecessary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procedures &amp; data collection to reduce trial cost and patient burden.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2607A43-B59D-770E-8CBF-025E73129677}"/>
              </a:ext>
            </a:extLst>
          </p:cNvPr>
          <p:cNvGrpSpPr/>
          <p:nvPr/>
        </p:nvGrpSpPr>
        <p:grpSpPr>
          <a:xfrm>
            <a:off x="17869625" y="12498290"/>
            <a:ext cx="5648915" cy="3097368"/>
            <a:chOff x="15220704" y="16694762"/>
            <a:chExt cx="4324406" cy="2371124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75D58F9E-41BA-C38A-D091-9B380E4B2F94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139" name="Rounded Rectangle 138">
                <a:extLst>
                  <a:ext uri="{FF2B5EF4-FFF2-40B4-BE49-F238E27FC236}">
                    <a16:creationId xmlns:a16="http://schemas.microsoft.com/office/drawing/2014/main" id="{19B67DD6-2C36-E0BB-74CC-8842AA22EE1E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40" name="Rounded Rectangle 139">
                <a:extLst>
                  <a:ext uri="{FF2B5EF4-FFF2-40B4-BE49-F238E27FC236}">
                    <a16:creationId xmlns:a16="http://schemas.microsoft.com/office/drawing/2014/main" id="{10E0A2C8-54A1-2A71-1E0E-BCC968B1F827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1" name="Rounded Rectangle 140">
                <a:extLst>
                  <a:ext uri="{FF2B5EF4-FFF2-40B4-BE49-F238E27FC236}">
                    <a16:creationId xmlns:a16="http://schemas.microsoft.com/office/drawing/2014/main" id="{1BE2A33A-DD48-DDF3-5AC8-2DC266E2EFD7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2" name="Rounded Rectangle 141">
                <a:extLst>
                  <a:ext uri="{FF2B5EF4-FFF2-40B4-BE49-F238E27FC236}">
                    <a16:creationId xmlns:a16="http://schemas.microsoft.com/office/drawing/2014/main" id="{F57914C5-DDA3-2404-6272-822661F87541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3" name="Rounded Rectangle 142">
                <a:extLst>
                  <a:ext uri="{FF2B5EF4-FFF2-40B4-BE49-F238E27FC236}">
                    <a16:creationId xmlns:a16="http://schemas.microsoft.com/office/drawing/2014/main" id="{C04A85B3-77F5-2B2F-C5AE-76393D542E3E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4" name="Rounded Rectangle 143">
                <a:extLst>
                  <a:ext uri="{FF2B5EF4-FFF2-40B4-BE49-F238E27FC236}">
                    <a16:creationId xmlns:a16="http://schemas.microsoft.com/office/drawing/2014/main" id="{130F9A84-90C4-1AD6-B94E-CA8E177E3961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45" name="Rounded Rectangle 144">
                <a:extLst>
                  <a:ext uri="{FF2B5EF4-FFF2-40B4-BE49-F238E27FC236}">
                    <a16:creationId xmlns:a16="http://schemas.microsoft.com/office/drawing/2014/main" id="{AA4FD41D-D18F-E06B-8435-CB6007E26B71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38" name="Rounded Rectangle 137">
              <a:extLst>
                <a:ext uri="{FF2B5EF4-FFF2-40B4-BE49-F238E27FC236}">
                  <a16:creationId xmlns:a16="http://schemas.microsoft.com/office/drawing/2014/main" id="{015D7EF6-FE6F-9C2F-097D-0AAC8732213B}"/>
                </a:ext>
              </a:extLst>
            </p:cNvPr>
            <p:cNvSpPr/>
            <p:nvPr/>
          </p:nvSpPr>
          <p:spPr>
            <a:xfrm>
              <a:off x="15220704" y="16694762"/>
              <a:ext cx="4324406" cy="2371124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Statistical Analysis Plan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Use the protocol as the initial source of the SAP to ensure consistency with objectives, endpoints, </a:t>
              </a:r>
              <a:r>
                <a:rPr lang="en-GB" sz="2613" dirty="0" err="1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estimands</a:t>
              </a:r>
              <a:endParaRPr lang="en-GB" sz="2351" dirty="0">
                <a:solidFill>
                  <a:srgbClr val="21212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EE7EA41-E109-ACAB-F425-184175779831}"/>
              </a:ext>
            </a:extLst>
          </p:cNvPr>
          <p:cNvGrpSpPr/>
          <p:nvPr/>
        </p:nvGrpSpPr>
        <p:grpSpPr>
          <a:xfrm>
            <a:off x="23735746" y="9126805"/>
            <a:ext cx="5648915" cy="4153086"/>
            <a:chOff x="15220704" y="16694762"/>
            <a:chExt cx="4324406" cy="3179306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FAAEA2F3-3ECC-2D42-0885-A185CF063E82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149" name="Rounded Rectangle 148">
                <a:extLst>
                  <a:ext uri="{FF2B5EF4-FFF2-40B4-BE49-F238E27FC236}">
                    <a16:creationId xmlns:a16="http://schemas.microsoft.com/office/drawing/2014/main" id="{D6C69B51-2302-3E09-5BDA-6BCC484F9833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50" name="Rounded Rectangle 149">
                <a:extLst>
                  <a:ext uri="{FF2B5EF4-FFF2-40B4-BE49-F238E27FC236}">
                    <a16:creationId xmlns:a16="http://schemas.microsoft.com/office/drawing/2014/main" id="{E39F6A22-DB3F-FA24-E666-813243219FCE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1" name="Rounded Rectangle 150">
                <a:extLst>
                  <a:ext uri="{FF2B5EF4-FFF2-40B4-BE49-F238E27FC236}">
                    <a16:creationId xmlns:a16="http://schemas.microsoft.com/office/drawing/2014/main" id="{B9F37D25-D506-94D9-F4FF-DCC058C8BA33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2" name="Rounded Rectangle 151">
                <a:extLst>
                  <a:ext uri="{FF2B5EF4-FFF2-40B4-BE49-F238E27FC236}">
                    <a16:creationId xmlns:a16="http://schemas.microsoft.com/office/drawing/2014/main" id="{9095F2B9-9710-4D09-8D1C-9335127C9726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3" name="Rounded Rectangle 152">
                <a:extLst>
                  <a:ext uri="{FF2B5EF4-FFF2-40B4-BE49-F238E27FC236}">
                    <a16:creationId xmlns:a16="http://schemas.microsoft.com/office/drawing/2014/main" id="{ADDCDCA2-20BA-53E1-D713-6E7A58598CA4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noFill/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4" name="Rounded Rectangle 153">
                <a:extLst>
                  <a:ext uri="{FF2B5EF4-FFF2-40B4-BE49-F238E27FC236}">
                    <a16:creationId xmlns:a16="http://schemas.microsoft.com/office/drawing/2014/main" id="{C29A338E-FE59-BD6E-5B35-A4EE8355DC36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55" name="Rounded Rectangle 154">
                <a:extLst>
                  <a:ext uri="{FF2B5EF4-FFF2-40B4-BE49-F238E27FC236}">
                    <a16:creationId xmlns:a16="http://schemas.microsoft.com/office/drawing/2014/main" id="{401ECFEE-9B3A-93EC-5FDF-362FB271ACEA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48" name="Rounded Rectangle 147">
              <a:extLst>
                <a:ext uri="{FF2B5EF4-FFF2-40B4-BE49-F238E27FC236}">
                  <a16:creationId xmlns:a16="http://schemas.microsoft.com/office/drawing/2014/main" id="{3E120E80-A7F4-D089-F1C6-06B6A84D8710}"/>
                </a:ext>
              </a:extLst>
            </p:cNvPr>
            <p:cNvSpPr/>
            <p:nvPr/>
          </p:nvSpPr>
          <p:spPr>
            <a:xfrm>
              <a:off x="15220704" y="16694762"/>
              <a:ext cx="4324406" cy="3179306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7566" rIns="117566" rtlCol="0" anchor="t">
              <a:spAutoFit/>
            </a:bodyPr>
            <a:lstStyle/>
            <a:p>
              <a:r>
                <a:rPr lang="en-GB" sz="2613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Statistical and Safety </a:t>
              </a:r>
            </a:p>
            <a:p>
              <a:r>
                <a:rPr lang="en-GB" sz="2613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Review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Support the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comparison of data by 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arm or study design. 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Allow for the verification of planned (protocol) data versus actual (study data) captured data</a:t>
              </a:r>
            </a:p>
          </p:txBody>
        </p: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AB528702-E3AA-66A8-C1B7-94EFD505C009}"/>
              </a:ext>
            </a:extLst>
          </p:cNvPr>
          <p:cNvGrpSpPr/>
          <p:nvPr/>
        </p:nvGrpSpPr>
        <p:grpSpPr>
          <a:xfrm>
            <a:off x="22893797" y="16105245"/>
            <a:ext cx="6277370" cy="7308731"/>
            <a:chOff x="20876523" y="16356909"/>
            <a:chExt cx="4805506" cy="5595042"/>
          </a:xfrm>
        </p:grpSpPr>
        <p:sp>
          <p:nvSpPr>
            <p:cNvPr id="397" name="Rounded Rectangle 396">
              <a:extLst>
                <a:ext uri="{FF2B5EF4-FFF2-40B4-BE49-F238E27FC236}">
                  <a16:creationId xmlns:a16="http://schemas.microsoft.com/office/drawing/2014/main" id="{FA21814F-FE9F-3D1F-B364-BA544890C124}"/>
                </a:ext>
              </a:extLst>
            </p:cNvPr>
            <p:cNvSpPr/>
            <p:nvPr/>
          </p:nvSpPr>
          <p:spPr>
            <a:xfrm>
              <a:off x="20876523" y="16360078"/>
              <a:ext cx="4805506" cy="5591873"/>
            </a:xfrm>
            <a:prstGeom prst="roundRect">
              <a:avLst>
                <a:gd name="adj" fmla="val 24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51" dirty="0"/>
            </a:p>
          </p:txBody>
        </p:sp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A52C4CE2-C4DA-7C22-0399-AFFCBC18EF1E}"/>
                </a:ext>
              </a:extLst>
            </p:cNvPr>
            <p:cNvGrpSpPr/>
            <p:nvPr/>
          </p:nvGrpSpPr>
          <p:grpSpPr>
            <a:xfrm>
              <a:off x="21114880" y="17122035"/>
              <a:ext cx="4324406" cy="2619818"/>
              <a:chOff x="15220704" y="16694762"/>
              <a:chExt cx="4324406" cy="2619818"/>
            </a:xfrm>
          </p:grpSpPr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C78D588E-8062-835F-D8CC-C5A1D9C870FC}"/>
                  </a:ext>
                </a:extLst>
              </p:cNvPr>
              <p:cNvGrpSpPr/>
              <p:nvPr/>
            </p:nvGrpSpPr>
            <p:grpSpPr>
              <a:xfrm>
                <a:off x="18330885" y="16811136"/>
                <a:ext cx="1061748" cy="1238986"/>
                <a:chOff x="8136941" y="5623858"/>
                <a:chExt cx="1061748" cy="1238986"/>
              </a:xfrm>
            </p:grpSpPr>
            <p:sp>
              <p:nvSpPr>
                <p:cNvPr id="390" name="Rounded Rectangle 389">
                  <a:extLst>
                    <a:ext uri="{FF2B5EF4-FFF2-40B4-BE49-F238E27FC236}">
                      <a16:creationId xmlns:a16="http://schemas.microsoft.com/office/drawing/2014/main" id="{7C52912B-D948-5866-FBE0-E4A0DCC5CBC1}"/>
                    </a:ext>
                  </a:extLst>
                </p:cNvPr>
                <p:cNvSpPr/>
                <p:nvPr/>
              </p:nvSpPr>
              <p:spPr>
                <a:xfrm>
                  <a:off x="8728980" y="5917072"/>
                  <a:ext cx="467920" cy="267960"/>
                </a:xfrm>
                <a:prstGeom prst="roundRect">
                  <a:avLst>
                    <a:gd name="adj" fmla="val 5628"/>
                  </a:avLst>
                </a:prstGeom>
                <a:solidFill>
                  <a:srgbClr val="D7766F">
                    <a:alpha val="47059"/>
                  </a:srgbClr>
                </a:solidFill>
                <a:ln w="31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rgbClr val="C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391" name="Rounded Rectangle 390">
                  <a:extLst>
                    <a:ext uri="{FF2B5EF4-FFF2-40B4-BE49-F238E27FC236}">
                      <a16:creationId xmlns:a16="http://schemas.microsoft.com/office/drawing/2014/main" id="{F810F624-2901-83EE-0519-61A8A6CF34F6}"/>
                    </a:ext>
                  </a:extLst>
                </p:cNvPr>
                <p:cNvSpPr/>
                <p:nvPr/>
              </p:nvSpPr>
              <p:spPr>
                <a:xfrm>
                  <a:off x="8728980" y="6228640"/>
                  <a:ext cx="469704" cy="311421"/>
                </a:xfrm>
                <a:prstGeom prst="roundRect">
                  <a:avLst>
                    <a:gd name="adj" fmla="val 5628"/>
                  </a:avLst>
                </a:prstGeom>
                <a:solidFill>
                  <a:schemeClr val="accent2">
                    <a:lumMod val="40000"/>
                    <a:lumOff val="60000"/>
                    <a:alpha val="47843"/>
                  </a:schemeClr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2">
                        <a:lumMod val="75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92" name="Rounded Rectangle 391">
                  <a:extLst>
                    <a:ext uri="{FF2B5EF4-FFF2-40B4-BE49-F238E27FC236}">
                      <a16:creationId xmlns:a16="http://schemas.microsoft.com/office/drawing/2014/main" id="{B1E9B935-83F0-1005-AE62-B780E2BC5CC5}"/>
                    </a:ext>
                  </a:extLst>
                </p:cNvPr>
                <p:cNvSpPr/>
                <p:nvPr/>
              </p:nvSpPr>
              <p:spPr>
                <a:xfrm>
                  <a:off x="8567591" y="6588749"/>
                  <a:ext cx="631098" cy="274095"/>
                </a:xfrm>
                <a:prstGeom prst="roundRect">
                  <a:avLst>
                    <a:gd name="adj" fmla="val 5628"/>
                  </a:avLst>
                </a:prstGeom>
                <a:solidFill>
                  <a:srgbClr val="FFC000">
                    <a:alpha val="47843"/>
                  </a:srgbClr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2">
                        <a:lumMod val="50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93" name="Rounded Rectangle 392">
                  <a:extLst>
                    <a:ext uri="{FF2B5EF4-FFF2-40B4-BE49-F238E27FC236}">
                      <a16:creationId xmlns:a16="http://schemas.microsoft.com/office/drawing/2014/main" id="{6A6C473B-FF3F-0F8A-C7AF-2182CF42E9EB}"/>
                    </a:ext>
                  </a:extLst>
                </p:cNvPr>
                <p:cNvSpPr/>
                <p:nvPr/>
              </p:nvSpPr>
              <p:spPr>
                <a:xfrm>
                  <a:off x="8136941" y="6588749"/>
                  <a:ext cx="366397" cy="274095"/>
                </a:xfrm>
                <a:prstGeom prst="roundRect">
                  <a:avLst>
                    <a:gd name="adj" fmla="val 5628"/>
                  </a:avLst>
                </a:prstGeom>
                <a:solidFill>
                  <a:schemeClr val="accent3">
                    <a:lumMod val="60000"/>
                    <a:lumOff val="40000"/>
                    <a:alpha val="47843"/>
                  </a:schemeClr>
                </a:solidFill>
                <a:ln w="3175"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6">
                        <a:lumMod val="75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94" name="Rounded Rectangle 393">
                  <a:extLst>
                    <a:ext uri="{FF2B5EF4-FFF2-40B4-BE49-F238E27FC236}">
                      <a16:creationId xmlns:a16="http://schemas.microsoft.com/office/drawing/2014/main" id="{79F97DBF-B632-4C12-2415-93327403FDD4}"/>
                    </a:ext>
                  </a:extLst>
                </p:cNvPr>
                <p:cNvSpPr/>
                <p:nvPr/>
              </p:nvSpPr>
              <p:spPr>
                <a:xfrm>
                  <a:off x="8136941" y="5917072"/>
                  <a:ext cx="534831" cy="622989"/>
                </a:xfrm>
                <a:prstGeom prst="roundRect">
                  <a:avLst>
                    <a:gd name="adj" fmla="val 3189"/>
                  </a:avLst>
                </a:prstGeom>
                <a:solidFill>
                  <a:schemeClr val="accent1">
                    <a:lumMod val="60000"/>
                    <a:lumOff val="40000"/>
                    <a:alpha val="47843"/>
                  </a:schemeClr>
                </a:solidFill>
                <a:ln w="3175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1"/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95" name="Rounded Rectangle 394">
                  <a:extLst>
                    <a:ext uri="{FF2B5EF4-FFF2-40B4-BE49-F238E27FC236}">
                      <a16:creationId xmlns:a16="http://schemas.microsoft.com/office/drawing/2014/main" id="{1EECF1F8-9926-96FD-B180-B5507D4C3EE9}"/>
                    </a:ext>
                  </a:extLst>
                </p:cNvPr>
                <p:cNvSpPr/>
                <p:nvPr/>
              </p:nvSpPr>
              <p:spPr>
                <a:xfrm>
                  <a:off x="8136942" y="5623858"/>
                  <a:ext cx="430650" cy="249606"/>
                </a:xfrm>
                <a:prstGeom prst="roundRect">
                  <a:avLst>
                    <a:gd name="adj" fmla="val 3189"/>
                  </a:avLst>
                </a:prstGeom>
                <a:solidFill>
                  <a:schemeClr val="bg1">
                    <a:lumMod val="75000"/>
                    <a:alpha val="47843"/>
                  </a:schemeClr>
                </a:solidFill>
                <a:ln w="317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rgbClr val="FFFFFF">
                        <a:lumMod val="50000"/>
                      </a:srgb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396" name="Rounded Rectangle 395">
                  <a:extLst>
                    <a:ext uri="{FF2B5EF4-FFF2-40B4-BE49-F238E27FC236}">
                      <a16:creationId xmlns:a16="http://schemas.microsoft.com/office/drawing/2014/main" id="{1F7EFBF7-9F1E-C60C-7220-873DE9F7A15C}"/>
                    </a:ext>
                  </a:extLst>
                </p:cNvPr>
                <p:cNvSpPr/>
                <p:nvPr/>
              </p:nvSpPr>
              <p:spPr>
                <a:xfrm>
                  <a:off x="8631796" y="5623858"/>
                  <a:ext cx="565104" cy="249606"/>
                </a:xfrm>
                <a:prstGeom prst="roundRect">
                  <a:avLst>
                    <a:gd name="adj" fmla="val 5628"/>
                  </a:avLst>
                </a:prstGeom>
                <a:solidFill>
                  <a:schemeClr val="accent5">
                    <a:lumMod val="40000"/>
                    <a:lumOff val="60000"/>
                    <a:alpha val="47843"/>
                  </a:schemeClr>
                </a:solidFill>
                <a:ln w="317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rgbClr val="553278">
                        <a:lumMod val="60000"/>
                        <a:lumOff val="40000"/>
                      </a:srgbClr>
                    </a:solidFill>
                    <a:latin typeface="Century Gothic" panose="020B0502020202020204" pitchFamily="34" charset="0"/>
                  </a:endParaRPr>
                </a:p>
              </p:txBody>
            </p:sp>
          </p:grpSp>
          <p:sp>
            <p:nvSpPr>
              <p:cNvPr id="389" name="Rounded Rectangle 388">
                <a:extLst>
                  <a:ext uri="{FF2B5EF4-FFF2-40B4-BE49-F238E27FC236}">
                    <a16:creationId xmlns:a16="http://schemas.microsoft.com/office/drawing/2014/main" id="{95F6F376-41FB-2D49-1B82-554B78A15339}"/>
                  </a:ext>
                </a:extLst>
              </p:cNvPr>
              <p:cNvSpPr/>
              <p:nvPr/>
            </p:nvSpPr>
            <p:spPr>
              <a:xfrm>
                <a:off x="15220704" y="16694762"/>
                <a:ext cx="4324406" cy="2619818"/>
              </a:xfrm>
              <a:prstGeom prst="roundRect">
                <a:avLst>
                  <a:gd name="adj" fmla="val 2312"/>
                </a:avLst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1645922" rtlCol="0" anchor="t">
                <a:spAutoFit/>
              </a:bodyPr>
              <a:lstStyle/>
              <a:p>
                <a:r>
                  <a:rPr lang="en-GB" sz="3135" b="1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Dashboards</a:t>
                </a:r>
              </a:p>
              <a:p>
                <a:r>
                  <a:rPr lang="en-GB" sz="2613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The display of protocol related information sourced from one or  more protocols in ways which have not been achievable before</a:t>
                </a:r>
              </a:p>
              <a:p>
                <a:endPara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62B4C2DE-495F-A224-23C2-8BC39D498B9C}"/>
                </a:ext>
              </a:extLst>
            </p:cNvPr>
            <p:cNvSpPr txBox="1"/>
            <p:nvPr/>
          </p:nvSpPr>
          <p:spPr>
            <a:xfrm>
              <a:off x="20876523" y="16356909"/>
              <a:ext cx="4805506" cy="7057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55991" rIns="0" bIns="55991" rtlCol="0" anchor="ctr"/>
            <a:lstStyle>
              <a:defPPr>
                <a:defRPr lang="en-US"/>
              </a:defPPr>
              <a:lvl1pPr algn="ctr">
                <a:defRPr sz="3600" b="1">
                  <a:solidFill>
                    <a:schemeClr val="accent1"/>
                  </a:solidFill>
                  <a:latin typeface="Century Gothic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sz="4703" dirty="0"/>
                <a:t>Across The Lifecycle</a:t>
              </a: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0AFCB1CA-3C0F-91C7-F4C2-AEB4E2218827}"/>
                </a:ext>
              </a:extLst>
            </p:cNvPr>
            <p:cNvGrpSpPr/>
            <p:nvPr/>
          </p:nvGrpSpPr>
          <p:grpSpPr>
            <a:xfrm>
              <a:off x="21109620" y="20014542"/>
              <a:ext cx="4324406" cy="1687436"/>
              <a:chOff x="15220704" y="16694762"/>
              <a:chExt cx="4324406" cy="1687436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67500760-D43B-18CF-3D81-7A9077196FD1}"/>
                  </a:ext>
                </a:extLst>
              </p:cNvPr>
              <p:cNvGrpSpPr/>
              <p:nvPr/>
            </p:nvGrpSpPr>
            <p:grpSpPr>
              <a:xfrm>
                <a:off x="18330885" y="16811136"/>
                <a:ext cx="1061748" cy="1238986"/>
                <a:chOff x="8136941" y="5623858"/>
                <a:chExt cx="1061748" cy="1238986"/>
              </a:xfrm>
            </p:grpSpPr>
            <p:sp>
              <p:nvSpPr>
                <p:cNvPr id="159" name="Rounded Rectangle 158">
                  <a:extLst>
                    <a:ext uri="{FF2B5EF4-FFF2-40B4-BE49-F238E27FC236}">
                      <a16:creationId xmlns:a16="http://schemas.microsoft.com/office/drawing/2014/main" id="{3A0F2131-D989-86E8-814B-CCB62035D7AD}"/>
                    </a:ext>
                  </a:extLst>
                </p:cNvPr>
                <p:cNvSpPr/>
                <p:nvPr/>
              </p:nvSpPr>
              <p:spPr>
                <a:xfrm>
                  <a:off x="8728980" y="5917072"/>
                  <a:ext cx="467920" cy="267960"/>
                </a:xfrm>
                <a:prstGeom prst="roundRect">
                  <a:avLst>
                    <a:gd name="adj" fmla="val 5628"/>
                  </a:avLst>
                </a:prstGeom>
                <a:solidFill>
                  <a:srgbClr val="D7766F">
                    <a:alpha val="47059"/>
                  </a:srgbClr>
                </a:solidFill>
                <a:ln w="31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rgbClr val="C00000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160" name="Rounded Rectangle 159">
                  <a:extLst>
                    <a:ext uri="{FF2B5EF4-FFF2-40B4-BE49-F238E27FC236}">
                      <a16:creationId xmlns:a16="http://schemas.microsoft.com/office/drawing/2014/main" id="{D31B4CCD-B4C6-8955-8EC2-76E84B2794C6}"/>
                    </a:ext>
                  </a:extLst>
                </p:cNvPr>
                <p:cNvSpPr/>
                <p:nvPr/>
              </p:nvSpPr>
              <p:spPr>
                <a:xfrm>
                  <a:off x="8728980" y="6228640"/>
                  <a:ext cx="469704" cy="311421"/>
                </a:xfrm>
                <a:prstGeom prst="roundRect">
                  <a:avLst>
                    <a:gd name="adj" fmla="val 5628"/>
                  </a:avLst>
                </a:prstGeom>
                <a:solidFill>
                  <a:schemeClr val="accent2">
                    <a:lumMod val="40000"/>
                    <a:lumOff val="60000"/>
                    <a:alpha val="47843"/>
                  </a:schemeClr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2">
                        <a:lumMod val="75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61" name="Rounded Rectangle 160">
                  <a:extLst>
                    <a:ext uri="{FF2B5EF4-FFF2-40B4-BE49-F238E27FC236}">
                      <a16:creationId xmlns:a16="http://schemas.microsoft.com/office/drawing/2014/main" id="{6756F833-6B55-708C-50E0-F653E9FB1A54}"/>
                    </a:ext>
                  </a:extLst>
                </p:cNvPr>
                <p:cNvSpPr/>
                <p:nvPr/>
              </p:nvSpPr>
              <p:spPr>
                <a:xfrm>
                  <a:off x="8567591" y="6588749"/>
                  <a:ext cx="631098" cy="274095"/>
                </a:xfrm>
                <a:prstGeom prst="roundRect">
                  <a:avLst>
                    <a:gd name="adj" fmla="val 5628"/>
                  </a:avLst>
                </a:prstGeom>
                <a:solidFill>
                  <a:srgbClr val="FFC000">
                    <a:alpha val="47843"/>
                  </a:srgbClr>
                </a:solidFill>
                <a:ln w="31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2">
                        <a:lumMod val="50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62" name="Rounded Rectangle 161">
                  <a:extLst>
                    <a:ext uri="{FF2B5EF4-FFF2-40B4-BE49-F238E27FC236}">
                      <a16:creationId xmlns:a16="http://schemas.microsoft.com/office/drawing/2014/main" id="{318E978B-709E-E938-4497-A9B36609BF74}"/>
                    </a:ext>
                  </a:extLst>
                </p:cNvPr>
                <p:cNvSpPr/>
                <p:nvPr/>
              </p:nvSpPr>
              <p:spPr>
                <a:xfrm>
                  <a:off x="8136941" y="6588749"/>
                  <a:ext cx="366397" cy="274095"/>
                </a:xfrm>
                <a:prstGeom prst="roundRect">
                  <a:avLst>
                    <a:gd name="adj" fmla="val 5628"/>
                  </a:avLst>
                </a:prstGeom>
                <a:solidFill>
                  <a:schemeClr val="accent3">
                    <a:lumMod val="60000"/>
                    <a:lumOff val="40000"/>
                    <a:alpha val="47843"/>
                  </a:schemeClr>
                </a:solidFill>
                <a:ln w="3175">
                  <a:solidFill>
                    <a:schemeClr val="accent3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6">
                        <a:lumMod val="75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63" name="Rounded Rectangle 162">
                  <a:extLst>
                    <a:ext uri="{FF2B5EF4-FFF2-40B4-BE49-F238E27FC236}">
                      <a16:creationId xmlns:a16="http://schemas.microsoft.com/office/drawing/2014/main" id="{0B048BB2-3AC3-62DB-0C12-DD8B586ABFEE}"/>
                    </a:ext>
                  </a:extLst>
                </p:cNvPr>
                <p:cNvSpPr/>
                <p:nvPr/>
              </p:nvSpPr>
              <p:spPr>
                <a:xfrm>
                  <a:off x="8136941" y="5917072"/>
                  <a:ext cx="534831" cy="622989"/>
                </a:xfrm>
                <a:prstGeom prst="roundRect">
                  <a:avLst>
                    <a:gd name="adj" fmla="val 3189"/>
                  </a:avLst>
                </a:prstGeom>
                <a:solidFill>
                  <a:schemeClr val="accent1">
                    <a:lumMod val="60000"/>
                    <a:lumOff val="40000"/>
                    <a:alpha val="47843"/>
                  </a:schemeClr>
                </a:solidFill>
                <a:ln w="3175"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chemeClr val="accent1"/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64" name="Rounded Rectangle 163">
                  <a:extLst>
                    <a:ext uri="{FF2B5EF4-FFF2-40B4-BE49-F238E27FC236}">
                      <a16:creationId xmlns:a16="http://schemas.microsoft.com/office/drawing/2014/main" id="{2FF47642-8CCF-99E0-E0AD-5FE55D0584E9}"/>
                    </a:ext>
                  </a:extLst>
                </p:cNvPr>
                <p:cNvSpPr/>
                <p:nvPr/>
              </p:nvSpPr>
              <p:spPr>
                <a:xfrm>
                  <a:off x="8136942" y="5623858"/>
                  <a:ext cx="430650" cy="249606"/>
                </a:xfrm>
                <a:prstGeom prst="roundRect">
                  <a:avLst>
                    <a:gd name="adj" fmla="val 3189"/>
                  </a:avLst>
                </a:prstGeom>
                <a:solidFill>
                  <a:schemeClr val="bg1">
                    <a:lumMod val="75000"/>
                    <a:alpha val="47843"/>
                  </a:schemeClr>
                </a:solidFill>
                <a:ln w="317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rgbClr val="FFFFFF">
                        <a:lumMod val="50000"/>
                      </a:srgbClr>
                    </a:solidFill>
                    <a:latin typeface="Century Gothic" panose="020B0502020202020204" pitchFamily="34" charset="0"/>
                  </a:endParaRPr>
                </a:p>
              </p:txBody>
            </p:sp>
            <p:sp>
              <p:nvSpPr>
                <p:cNvPr id="165" name="Rounded Rectangle 164">
                  <a:extLst>
                    <a:ext uri="{FF2B5EF4-FFF2-40B4-BE49-F238E27FC236}">
                      <a16:creationId xmlns:a16="http://schemas.microsoft.com/office/drawing/2014/main" id="{1E8BA99F-1D3D-B129-D5CD-1509D69E23FE}"/>
                    </a:ext>
                  </a:extLst>
                </p:cNvPr>
                <p:cNvSpPr/>
                <p:nvPr/>
              </p:nvSpPr>
              <p:spPr>
                <a:xfrm>
                  <a:off x="8631796" y="5623858"/>
                  <a:ext cx="565104" cy="249606"/>
                </a:xfrm>
                <a:prstGeom prst="roundRect">
                  <a:avLst>
                    <a:gd name="adj" fmla="val 5628"/>
                  </a:avLst>
                </a:prstGeom>
                <a:solidFill>
                  <a:schemeClr val="accent5">
                    <a:lumMod val="40000"/>
                    <a:lumOff val="60000"/>
                    <a:alpha val="47843"/>
                  </a:schemeClr>
                </a:solidFill>
                <a:ln w="317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7026" tIns="47026" rIns="47026" bIns="47026" rtlCol="0" anchor="ctr"/>
                <a:lstStyle/>
                <a:p>
                  <a:pPr algn="ctr" defTabSz="1194481">
                    <a:defRPr/>
                  </a:pPr>
                  <a:endParaRPr lang="en-GB" sz="3135" b="1" dirty="0">
                    <a:solidFill>
                      <a:srgbClr val="553278">
                        <a:lumMod val="60000"/>
                        <a:lumOff val="40000"/>
                      </a:srgbClr>
                    </a:solidFill>
                    <a:latin typeface="Century Gothic" panose="020B0502020202020204" pitchFamily="34" charset="0"/>
                  </a:endParaRPr>
                </a:p>
              </p:txBody>
            </p:sp>
          </p:grpSp>
          <p:sp>
            <p:nvSpPr>
              <p:cNvPr id="158" name="Rounded Rectangle 157">
                <a:extLst>
                  <a:ext uri="{FF2B5EF4-FFF2-40B4-BE49-F238E27FC236}">
                    <a16:creationId xmlns:a16="http://schemas.microsoft.com/office/drawing/2014/main" id="{79334F0E-50FF-0433-AFC4-2DDB599AFA8B}"/>
                  </a:ext>
                </a:extLst>
              </p:cNvPr>
              <p:cNvSpPr/>
              <p:nvPr/>
            </p:nvSpPr>
            <p:spPr>
              <a:xfrm>
                <a:off x="15220704" y="16694762"/>
                <a:ext cx="4324406" cy="1687436"/>
              </a:xfrm>
              <a:prstGeom prst="roundRect">
                <a:avLst>
                  <a:gd name="adj" fmla="val 2312"/>
                </a:avLst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1645922" rtlCol="0" anchor="t">
                <a:spAutoFit/>
              </a:bodyPr>
              <a:lstStyle/>
              <a:p>
                <a:r>
                  <a:rPr lang="en-GB" sz="3135" b="1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Comparison</a:t>
                </a:r>
              </a:p>
              <a:p>
                <a:r>
                  <a:rPr lang="en-GB" sz="2613" dirty="0">
                    <a:solidFill>
                      <a:schemeClr val="bg1">
                        <a:lumMod val="50000"/>
                      </a:schemeClr>
                    </a:solidFill>
                    <a:latin typeface="Century Gothic" panose="020B0502020202020204" pitchFamily="34" charset="0"/>
                  </a:rPr>
                  <a:t>Compare and verify differences across versions and similar protocols</a:t>
                </a:r>
              </a:p>
            </p:txBody>
          </p:sp>
        </p:grp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41CA479-2F4C-4D3A-24D1-B61D1121994F}"/>
              </a:ext>
            </a:extLst>
          </p:cNvPr>
          <p:cNvGrpSpPr/>
          <p:nvPr/>
        </p:nvGrpSpPr>
        <p:grpSpPr>
          <a:xfrm>
            <a:off x="6024364" y="8611693"/>
            <a:ext cx="5648915" cy="2610262"/>
            <a:chOff x="15220704" y="16694762"/>
            <a:chExt cx="4324406" cy="1998230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1B37670-EAEF-808E-5AF5-44EA9971EB69}"/>
                </a:ext>
              </a:extLst>
            </p:cNvPr>
            <p:cNvGrpSpPr/>
            <p:nvPr/>
          </p:nvGrpSpPr>
          <p:grpSpPr>
            <a:xfrm>
              <a:off x="18330885" y="16811136"/>
              <a:ext cx="1061748" cy="1238986"/>
              <a:chOff x="8136941" y="5623858"/>
              <a:chExt cx="1061748" cy="1238986"/>
            </a:xfrm>
          </p:grpSpPr>
          <p:sp>
            <p:nvSpPr>
              <p:cNvPr id="170" name="Rounded Rectangle 169">
                <a:extLst>
                  <a:ext uri="{FF2B5EF4-FFF2-40B4-BE49-F238E27FC236}">
                    <a16:creationId xmlns:a16="http://schemas.microsoft.com/office/drawing/2014/main" id="{39879B4E-3F25-0F18-D8EB-D3245E399785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solidFill>
                <a:srgbClr val="D7766F">
                  <a:alpha val="47059"/>
                </a:srgbClr>
              </a:solidFill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172" name="Rounded Rectangle 171">
                <a:extLst>
                  <a:ext uri="{FF2B5EF4-FFF2-40B4-BE49-F238E27FC236}">
                    <a16:creationId xmlns:a16="http://schemas.microsoft.com/office/drawing/2014/main" id="{70B2DD60-7AB3-9370-C02B-270B1E012327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solidFill>
                <a:schemeClr val="accent2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3" name="Rounded Rectangle 172">
                <a:extLst>
                  <a:ext uri="{FF2B5EF4-FFF2-40B4-BE49-F238E27FC236}">
                    <a16:creationId xmlns:a16="http://schemas.microsoft.com/office/drawing/2014/main" id="{BC9DF891-9F0E-7C40-7ECA-6295C7E5B522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174" name="Rounded Rectangle 173">
                <a:extLst>
                  <a:ext uri="{FF2B5EF4-FFF2-40B4-BE49-F238E27FC236}">
                    <a16:creationId xmlns:a16="http://schemas.microsoft.com/office/drawing/2014/main" id="{2CA5CA2C-1619-B2E9-FF77-771677D0AFAF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5" name="Rounded Rectangle 224">
                <a:extLst>
                  <a:ext uri="{FF2B5EF4-FFF2-40B4-BE49-F238E27FC236}">
                    <a16:creationId xmlns:a16="http://schemas.microsoft.com/office/drawing/2014/main" id="{068784B2-0760-73F2-1009-DFA643FE40BB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6" name="Rounded Rectangle 225">
                <a:extLst>
                  <a:ext uri="{FF2B5EF4-FFF2-40B4-BE49-F238E27FC236}">
                    <a16:creationId xmlns:a16="http://schemas.microsoft.com/office/drawing/2014/main" id="{95D89834-7218-B6A8-A527-5B76758D62BF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7" name="Rounded Rectangle 226">
                <a:extLst>
                  <a:ext uri="{FF2B5EF4-FFF2-40B4-BE49-F238E27FC236}">
                    <a16:creationId xmlns:a16="http://schemas.microsoft.com/office/drawing/2014/main" id="{68C2B3C4-9BA8-E8F3-C588-BDD02C87928E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solidFill>
                <a:schemeClr val="accent5">
                  <a:lumMod val="40000"/>
                  <a:lumOff val="60000"/>
                  <a:alpha val="47843"/>
                </a:schemeClr>
              </a:solidFill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169" name="Rounded Rectangle 168">
              <a:extLst>
                <a:ext uri="{FF2B5EF4-FFF2-40B4-BE49-F238E27FC236}">
                  <a16:creationId xmlns:a16="http://schemas.microsoft.com/office/drawing/2014/main" id="{01B5F8A9-6585-CABF-6C7D-DDA4F793B73E}"/>
                </a:ext>
              </a:extLst>
            </p:cNvPr>
            <p:cNvSpPr/>
            <p:nvPr/>
          </p:nvSpPr>
          <p:spPr>
            <a:xfrm>
              <a:off x="15220704" y="16694762"/>
              <a:ext cx="4324406" cy="1998230"/>
            </a:xfrm>
            <a:prstGeom prst="roundRect">
              <a:avLst>
                <a:gd name="adj" fmla="val 2312"/>
              </a:avLst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645922" rtlCol="0" anchor="t">
              <a:spAutoFit/>
            </a:bodyPr>
            <a:lstStyle/>
            <a:p>
              <a:r>
                <a:rPr lang="en-GB" sz="3135" b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TMF</a:t>
              </a:r>
            </a:p>
            <a:p>
              <a:r>
                <a:rPr lang="en-GB" sz="2613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Linking the protocol to the specification of milestones and essential documents</a:t>
              </a:r>
            </a:p>
            <a:p>
              <a:endParaRPr lang="en-GB" sz="2613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endParaRPr>
            </a:p>
          </p:txBody>
        </p:sp>
      </p:grpSp>
      <p:pic>
        <p:nvPicPr>
          <p:cNvPr id="231" name="Graphic 230">
            <a:extLst>
              <a:ext uri="{FF2B5EF4-FFF2-40B4-BE49-F238E27FC236}">
                <a16:creationId xmlns:a16="http://schemas.microsoft.com/office/drawing/2014/main" id="{D26A7354-F3C6-9380-2257-267543BFC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044397" y="-4223727"/>
            <a:ext cx="3694437" cy="1179076"/>
          </a:xfrm>
          <a:prstGeom prst="rect">
            <a:avLst/>
          </a:prstGeom>
        </p:spPr>
      </p:pic>
      <p:grpSp>
        <p:nvGrpSpPr>
          <p:cNvPr id="321" name="Group 320">
            <a:extLst>
              <a:ext uri="{FF2B5EF4-FFF2-40B4-BE49-F238E27FC236}">
                <a16:creationId xmlns:a16="http://schemas.microsoft.com/office/drawing/2014/main" id="{CA999B6A-31A8-95DD-736C-8DA2F2010DB4}"/>
              </a:ext>
            </a:extLst>
          </p:cNvPr>
          <p:cNvGrpSpPr/>
          <p:nvPr/>
        </p:nvGrpSpPr>
        <p:grpSpPr>
          <a:xfrm>
            <a:off x="-10961834" y="19703359"/>
            <a:ext cx="3801632" cy="3666356"/>
            <a:chOff x="215716" y="19377761"/>
            <a:chExt cx="2910258" cy="2806700"/>
          </a:xfrm>
        </p:grpSpPr>
        <p:sp>
          <p:nvSpPr>
            <p:cNvPr id="319" name="Rounded Rectangle 318">
              <a:extLst>
                <a:ext uri="{FF2B5EF4-FFF2-40B4-BE49-F238E27FC236}">
                  <a16:creationId xmlns:a16="http://schemas.microsoft.com/office/drawing/2014/main" id="{53BF7B41-D345-3A90-1101-385736481AD2}"/>
                </a:ext>
              </a:extLst>
            </p:cNvPr>
            <p:cNvSpPr/>
            <p:nvPr/>
          </p:nvSpPr>
          <p:spPr>
            <a:xfrm>
              <a:off x="215716" y="19377761"/>
              <a:ext cx="2910258" cy="2806700"/>
            </a:xfrm>
            <a:prstGeom prst="roundRect">
              <a:avLst>
                <a:gd name="adj" fmla="val 46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351"/>
            </a:p>
          </p:txBody>
        </p: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3AEF3BD1-F36D-1F45-C374-FB0BC85B01CB}"/>
                </a:ext>
              </a:extLst>
            </p:cNvPr>
            <p:cNvGrpSpPr/>
            <p:nvPr/>
          </p:nvGrpSpPr>
          <p:grpSpPr>
            <a:xfrm>
              <a:off x="1139971" y="20675722"/>
              <a:ext cx="1061748" cy="1238986"/>
              <a:chOff x="8136941" y="5623858"/>
              <a:chExt cx="1061748" cy="1238986"/>
            </a:xfrm>
          </p:grpSpPr>
          <p:sp>
            <p:nvSpPr>
              <p:cNvPr id="194" name="Rounded Rectangle 193">
                <a:extLst>
                  <a:ext uri="{FF2B5EF4-FFF2-40B4-BE49-F238E27FC236}">
                    <a16:creationId xmlns:a16="http://schemas.microsoft.com/office/drawing/2014/main" id="{9A57A3E3-DD6A-1950-55A2-5083B1D68AC5}"/>
                  </a:ext>
                </a:extLst>
              </p:cNvPr>
              <p:cNvSpPr/>
              <p:nvPr/>
            </p:nvSpPr>
            <p:spPr>
              <a:xfrm>
                <a:off x="8728980" y="5917072"/>
                <a:ext cx="467920" cy="267960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C00000"/>
                  </a:solidFill>
                  <a:latin typeface="Arial" panose="020B0604020202020204"/>
                </a:endParaRPr>
              </a:p>
            </p:txBody>
          </p:sp>
          <p:sp>
            <p:nvSpPr>
              <p:cNvPr id="229" name="Rounded Rectangle 228">
                <a:extLst>
                  <a:ext uri="{FF2B5EF4-FFF2-40B4-BE49-F238E27FC236}">
                    <a16:creationId xmlns:a16="http://schemas.microsoft.com/office/drawing/2014/main" id="{B19F4C9E-F14A-7DFB-2033-5847F38675BE}"/>
                  </a:ext>
                </a:extLst>
              </p:cNvPr>
              <p:cNvSpPr/>
              <p:nvPr/>
            </p:nvSpPr>
            <p:spPr>
              <a:xfrm>
                <a:off x="8728980" y="6228640"/>
                <a:ext cx="469704" cy="311421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0" name="Rounded Rectangle 229">
                <a:extLst>
                  <a:ext uri="{FF2B5EF4-FFF2-40B4-BE49-F238E27FC236}">
                    <a16:creationId xmlns:a16="http://schemas.microsoft.com/office/drawing/2014/main" id="{90A3457A-D2B4-36FE-286E-E840AF9E4B88}"/>
                  </a:ext>
                </a:extLst>
              </p:cNvPr>
              <p:cNvSpPr/>
              <p:nvPr/>
            </p:nvSpPr>
            <p:spPr>
              <a:xfrm>
                <a:off x="8567591" y="6588749"/>
                <a:ext cx="631098" cy="274095"/>
              </a:xfrm>
              <a:prstGeom prst="roundRect">
                <a:avLst>
                  <a:gd name="adj" fmla="val 5628"/>
                </a:avLst>
              </a:prstGeom>
              <a:solidFill>
                <a:srgbClr val="FFC000">
                  <a:alpha val="47843"/>
                </a:srgbClr>
              </a:solidFill>
              <a:ln w="31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2">
                      <a:lumMod val="5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2" name="Rounded Rectangle 231">
                <a:extLst>
                  <a:ext uri="{FF2B5EF4-FFF2-40B4-BE49-F238E27FC236}">
                    <a16:creationId xmlns:a16="http://schemas.microsoft.com/office/drawing/2014/main" id="{98C70286-1B80-1CB4-47EA-C71E72FA53D3}"/>
                  </a:ext>
                </a:extLst>
              </p:cNvPr>
              <p:cNvSpPr/>
              <p:nvPr/>
            </p:nvSpPr>
            <p:spPr>
              <a:xfrm>
                <a:off x="8136941" y="6588749"/>
                <a:ext cx="366397" cy="274095"/>
              </a:xfrm>
              <a:prstGeom prst="roundRect">
                <a:avLst>
                  <a:gd name="adj" fmla="val 5628"/>
                </a:avLst>
              </a:prstGeom>
              <a:solidFill>
                <a:schemeClr val="accent3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6">
                      <a:lumMod val="7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4" name="Rounded Rectangle 233">
                <a:extLst>
                  <a:ext uri="{FF2B5EF4-FFF2-40B4-BE49-F238E27FC236}">
                    <a16:creationId xmlns:a16="http://schemas.microsoft.com/office/drawing/2014/main" id="{370F4055-7B32-6644-2F11-13D905E76E47}"/>
                  </a:ext>
                </a:extLst>
              </p:cNvPr>
              <p:cNvSpPr/>
              <p:nvPr/>
            </p:nvSpPr>
            <p:spPr>
              <a:xfrm>
                <a:off x="8136941" y="5917072"/>
                <a:ext cx="534831" cy="622989"/>
              </a:xfrm>
              <a:prstGeom prst="roundRect">
                <a:avLst>
                  <a:gd name="adj" fmla="val 3189"/>
                </a:avLst>
              </a:prstGeom>
              <a:solidFill>
                <a:schemeClr val="accent1">
                  <a:lumMod val="60000"/>
                  <a:lumOff val="40000"/>
                  <a:alpha val="47843"/>
                </a:schemeClr>
              </a:solidFill>
              <a:ln w="3175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266" name="Rounded Rectangle 265">
                <a:extLst>
                  <a:ext uri="{FF2B5EF4-FFF2-40B4-BE49-F238E27FC236}">
                    <a16:creationId xmlns:a16="http://schemas.microsoft.com/office/drawing/2014/main" id="{E7CEFA8B-FA1D-724F-7AD9-22A15FD9D94D}"/>
                  </a:ext>
                </a:extLst>
              </p:cNvPr>
              <p:cNvSpPr/>
              <p:nvPr/>
            </p:nvSpPr>
            <p:spPr>
              <a:xfrm>
                <a:off x="8136942" y="5623858"/>
                <a:ext cx="430650" cy="249606"/>
              </a:xfrm>
              <a:prstGeom prst="roundRect">
                <a:avLst>
                  <a:gd name="adj" fmla="val 3189"/>
                </a:avLst>
              </a:prstGeom>
              <a:solidFill>
                <a:schemeClr val="bg1">
                  <a:lumMod val="75000"/>
                  <a:alpha val="47843"/>
                </a:schemeClr>
              </a:solidFill>
              <a:ln w="3175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FFFFFF">
                      <a:lumMod val="5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  <p:sp>
            <p:nvSpPr>
              <p:cNvPr id="306" name="Rounded Rectangle 305">
                <a:extLst>
                  <a:ext uri="{FF2B5EF4-FFF2-40B4-BE49-F238E27FC236}">
                    <a16:creationId xmlns:a16="http://schemas.microsoft.com/office/drawing/2014/main" id="{6B437637-9106-993B-E5B3-5B2EB02C7F84}"/>
                  </a:ext>
                </a:extLst>
              </p:cNvPr>
              <p:cNvSpPr/>
              <p:nvPr/>
            </p:nvSpPr>
            <p:spPr>
              <a:xfrm>
                <a:off x="8631796" y="5623858"/>
                <a:ext cx="565104" cy="249606"/>
              </a:xfrm>
              <a:prstGeom prst="roundRect">
                <a:avLst>
                  <a:gd name="adj" fmla="val 5628"/>
                </a:avLst>
              </a:prstGeom>
              <a:noFill/>
              <a:ln w="31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7026" tIns="47026" rIns="47026" bIns="47026" rtlCol="0" anchor="ctr"/>
              <a:lstStyle/>
              <a:p>
                <a:pPr algn="ctr" defTabSz="1194481">
                  <a:defRPr/>
                </a:pPr>
                <a:endParaRPr lang="en-GB" sz="3135" b="1" dirty="0">
                  <a:solidFill>
                    <a:srgbClr val="553278">
                      <a:lumMod val="60000"/>
                      <a:lumOff val="40000"/>
                    </a:srgbClr>
                  </a:solidFill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99F0ED12-ABB2-213D-EB1A-1973A256BF9D}"/>
                </a:ext>
              </a:extLst>
            </p:cNvPr>
            <p:cNvSpPr txBox="1"/>
            <p:nvPr/>
          </p:nvSpPr>
          <p:spPr>
            <a:xfrm>
              <a:off x="249977" y="19493999"/>
              <a:ext cx="2875996" cy="1055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90" i="1" dirty="0">
                  <a:solidFill>
                    <a:schemeClr val="bg1">
                      <a:lumMod val="50000"/>
                    </a:schemeClr>
                  </a:solidFill>
                  <a:latin typeface="Century Gothic" panose="020B0502020202020204" pitchFamily="34" charset="0"/>
                </a:rPr>
                <a:t>Indication of the areas of the model that would be used to satisfy a given use case. Informative</a:t>
              </a:r>
              <a:endParaRPr lang="en-GB" sz="209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44396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A1C264-C6A5-82CC-4AAE-DE5FB9F2DE8E}"/>
              </a:ext>
            </a:extLst>
          </p:cNvPr>
          <p:cNvSpPr txBox="1"/>
          <p:nvPr/>
        </p:nvSpPr>
        <p:spPr>
          <a:xfrm>
            <a:off x="5486400" y="27486"/>
            <a:ext cx="21945600" cy="2746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622" b="1" dirty="0">
                <a:solidFill>
                  <a:srgbClr val="002060"/>
                </a:solidFill>
                <a:latin typeface="Century Gothic" panose="020B0502020202020204" pitchFamily="34" charset="0"/>
              </a:rPr>
              <a:t>USDM in Action</a:t>
            </a:r>
            <a:br>
              <a:rPr lang="en-GB" sz="8622" b="1" dirty="0">
                <a:solidFill>
                  <a:srgbClr val="002060"/>
                </a:solidFill>
                <a:latin typeface="Century Gothic" panose="020B0502020202020204" pitchFamily="34" charset="0"/>
              </a:rPr>
            </a:br>
            <a:r>
              <a:rPr lang="en-GB" sz="8622" b="1" dirty="0">
                <a:solidFill>
                  <a:srgbClr val="002060"/>
                </a:solidFill>
                <a:latin typeface="Century Gothic" panose="020B0502020202020204" pitchFamily="34" charset="0"/>
              </a:rPr>
              <a:t>The Clinical Research Backbone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1BF3913-0F43-64C3-6F2E-B5676F66591F}"/>
              </a:ext>
            </a:extLst>
          </p:cNvPr>
          <p:cNvSpPr/>
          <p:nvPr/>
        </p:nvSpPr>
        <p:spPr>
          <a:xfrm>
            <a:off x="3637932" y="7502182"/>
            <a:ext cx="2219626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t">
            <a:spAutoFit/>
          </a:bodyPr>
          <a:lstStyle/>
          <a:p>
            <a:pPr algn="ctr"/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Protocol Synopsis</a:t>
            </a:r>
          </a:p>
          <a:p>
            <a:pPr algn="ctr"/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essential protocol design parameters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3449094-4984-63C4-C544-E94373DB38F7}"/>
              </a:ext>
            </a:extLst>
          </p:cNvPr>
          <p:cNvSpPr/>
          <p:nvPr/>
        </p:nvSpPr>
        <p:spPr>
          <a:xfrm>
            <a:off x="42282" y="17783344"/>
            <a:ext cx="5648915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Regulatory Authority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Approval for the execution of the study including IND, CTA etc and discussions with regulatory authorities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777F4C1-4CD7-CC4F-C288-B34D80FA2ABA}"/>
              </a:ext>
            </a:extLst>
          </p:cNvPr>
          <p:cNvSpPr/>
          <p:nvPr/>
        </p:nvSpPr>
        <p:spPr>
          <a:xfrm>
            <a:off x="27980307" y="11812102"/>
            <a:ext cx="2767672" cy="2610326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7566" rIns="117566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Study Build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Build of the study based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on the protocol I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including all detailed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procedures and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assessments to allow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for immediate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deployment.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44FE263E-F1B8-4CD7-9E93-E1055850128D}"/>
              </a:ext>
            </a:extLst>
          </p:cNvPr>
          <p:cNvSpPr/>
          <p:nvPr/>
        </p:nvSpPr>
        <p:spPr>
          <a:xfrm>
            <a:off x="6005360" y="20923445"/>
            <a:ext cx="5648915" cy="932259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Site Support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Provision of tailored information to sites regarding study execution.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B91D7BB-AAA9-B312-53F2-A8263483045B}"/>
              </a:ext>
            </a:extLst>
          </p:cNvPr>
          <p:cNvSpPr/>
          <p:nvPr/>
        </p:nvSpPr>
        <p:spPr>
          <a:xfrm>
            <a:off x="25077773" y="19318238"/>
            <a:ext cx="5648915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Trial Registries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Registration of the study with registries such as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CT.gov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, CTIS etc.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AFC0332B-FF2B-23FC-310F-BDE8BB2A0B62}"/>
              </a:ext>
            </a:extLst>
          </p:cNvPr>
          <p:cNvSpPr/>
          <p:nvPr/>
        </p:nvSpPr>
        <p:spPr>
          <a:xfrm>
            <a:off x="6005360" y="18371374"/>
            <a:ext cx="5648915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Training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Provision of training materials to those involved in the study including sites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1E7CB79-6A11-3561-FFF7-16EA20A4F95B}"/>
              </a:ext>
            </a:extLst>
          </p:cNvPr>
          <p:cNvSpPr/>
          <p:nvPr/>
        </p:nvSpPr>
        <p:spPr>
          <a:xfrm>
            <a:off x="17424918" y="19109526"/>
            <a:ext cx="5648915" cy="2050971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566" rIns="117566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Deployment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Deployment of the  study across the  enterprise using the  USDM to support  electronic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configuration rather  than manual data entry including Data collection systems  (incl. EDC), CTMS, IRT, Data transmission specifications and more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F0220C06-C3E5-962B-955D-B5FD3C3BD4A4}"/>
              </a:ext>
            </a:extLst>
          </p:cNvPr>
          <p:cNvSpPr/>
          <p:nvPr/>
        </p:nvSpPr>
        <p:spPr>
          <a:xfrm>
            <a:off x="22967894" y="15142378"/>
            <a:ext cx="4552781" cy="2050971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Subject Information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Provision of improved information to subjects regarding study execution, improve expectation management.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77E2EF6E-2778-AF22-23A6-095B828E6448}"/>
              </a:ext>
            </a:extLst>
          </p:cNvPr>
          <p:cNvSpPr/>
          <p:nvPr/>
        </p:nvSpPr>
        <p:spPr>
          <a:xfrm>
            <a:off x="28413765" y="14671940"/>
            <a:ext cx="5648915" cy="2330648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Amendments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Support the amendment process with the ability to indicate the precise changes to the user community.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Ensure fewer amendments (see Protocol Store).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581FFCAB-68BF-D0A5-855D-44151BB2BE2F}"/>
              </a:ext>
            </a:extLst>
          </p:cNvPr>
          <p:cNvSpPr/>
          <p:nvPr/>
        </p:nvSpPr>
        <p:spPr>
          <a:xfrm>
            <a:off x="17997472" y="16984525"/>
            <a:ext cx="5648915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Automation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Provide a solid foundation for the  automation of analysis and reporting outputs such as TLFs and CSRs.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748718A1-AE12-17D6-C321-793C62C5D6AC}"/>
              </a:ext>
            </a:extLst>
          </p:cNvPr>
          <p:cNvSpPr/>
          <p:nvPr/>
        </p:nvSpPr>
        <p:spPr>
          <a:xfrm>
            <a:off x="19264038" y="13117265"/>
            <a:ext cx="5648915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Submission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Preparation of the submission by the sponsor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A934D78E-D980-B137-DEC1-93DDCAD30940}"/>
              </a:ext>
            </a:extLst>
          </p:cNvPr>
          <p:cNvSpPr/>
          <p:nvPr/>
        </p:nvSpPr>
        <p:spPr>
          <a:xfrm>
            <a:off x="7290397" y="22768850"/>
            <a:ext cx="5648915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Regulatory Review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Review of the submission by the regulatory authority and discussions / questions with the sponsor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671EB8A8-457C-7C3E-AF1C-93B3187E7254}"/>
              </a:ext>
            </a:extLst>
          </p:cNvPr>
          <p:cNvSpPr/>
          <p:nvPr/>
        </p:nvSpPr>
        <p:spPr>
          <a:xfrm>
            <a:off x="27803012" y="23025465"/>
            <a:ext cx="5648915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SDTM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Creation of ‘T’ domains. Auto generation of data domains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D2871D93-B564-493B-DABC-C4D2B1197B34}"/>
              </a:ext>
            </a:extLst>
          </p:cNvPr>
          <p:cNvSpPr/>
          <p:nvPr/>
        </p:nvSpPr>
        <p:spPr>
          <a:xfrm>
            <a:off x="25244284" y="20920760"/>
            <a:ext cx="5648915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ADaM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Use the protocol statistical metadata to assist in the derivation of analysis datasets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C4C6B45-90D1-1569-3F0E-8A9F33B7B94E}"/>
              </a:ext>
            </a:extLst>
          </p:cNvPr>
          <p:cNvSpPr/>
          <p:nvPr/>
        </p:nvSpPr>
        <p:spPr>
          <a:xfrm>
            <a:off x="11977867" y="19056598"/>
            <a:ext cx="5648915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Drug &amp; Study Materials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Assist in the planning and provision of study drug, materials and supplies 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A3C7EADF-AFF0-6221-AFBC-CED9BC1EFD3F}"/>
              </a:ext>
            </a:extLst>
          </p:cNvPr>
          <p:cNvSpPr/>
          <p:nvPr/>
        </p:nvSpPr>
        <p:spPr>
          <a:xfrm>
            <a:off x="11957376" y="14671940"/>
            <a:ext cx="5648915" cy="1771293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Subject Recruitment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Support the identification of subjects to help improve subject recruitment to the study. Help support EHR participation identification.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E18D8940-ADBA-A5C8-15A1-B029C0E6876F}"/>
              </a:ext>
            </a:extLst>
          </p:cNvPr>
          <p:cNvSpPr/>
          <p:nvPr/>
        </p:nvSpPr>
        <p:spPr>
          <a:xfrm>
            <a:off x="5767393" y="5754755"/>
            <a:ext cx="2110891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108000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Feasibility &amp; Cost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Support study feasibility and complexity evaluations. 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CD705D59-F703-8D80-40A8-50E656A7B1F9}"/>
              </a:ext>
            </a:extLst>
          </p:cNvPr>
          <p:cNvSpPr/>
          <p:nvPr/>
        </p:nvSpPr>
        <p:spPr>
          <a:xfrm>
            <a:off x="58021" y="21242282"/>
            <a:ext cx="5648915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Stakeholder Views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Tailored views for stakeholders such as IRB and ethic committees.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B5C7626D-6F80-C91B-E2AF-009EDF651532}"/>
              </a:ext>
            </a:extLst>
          </p:cNvPr>
          <p:cNvSpPr/>
          <p:nvPr/>
        </p:nvSpPr>
        <p:spPr>
          <a:xfrm>
            <a:off x="596394" y="15017072"/>
            <a:ext cx="3993739" cy="2610326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17566" rIns="117566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Data Collection </a:t>
            </a:r>
          </a:p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Strategy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Ensure all data that is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needed for analysis is collected. Remove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unnecessary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procedures &amp; data collection to reduce trial cost and patient burden.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2118394A-CA62-E8DB-9E47-4DF474B8E635}"/>
              </a:ext>
            </a:extLst>
          </p:cNvPr>
          <p:cNvSpPr/>
          <p:nvPr/>
        </p:nvSpPr>
        <p:spPr>
          <a:xfrm>
            <a:off x="8716911" y="6383482"/>
            <a:ext cx="2722800" cy="932259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Statistical Analysis Plan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Use the protocol as the initial source of the SAP</a:t>
            </a:r>
            <a:endParaRPr lang="en-GB" dirty="0">
              <a:solidFill>
                <a:srgbClr val="212121"/>
              </a:solidFill>
              <a:latin typeface="Calibri" panose="020F0502020204030204" pitchFamily="34" charset="0"/>
            </a:endParaRP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8FAEADD8-E277-EFF5-6CE5-80ABFC44EB3D}"/>
              </a:ext>
            </a:extLst>
          </p:cNvPr>
          <p:cNvSpPr/>
          <p:nvPr/>
        </p:nvSpPr>
        <p:spPr>
          <a:xfrm>
            <a:off x="20367629" y="22186432"/>
            <a:ext cx="5648915" cy="2330648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566" rIns="117566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Statistical and Safety </a:t>
            </a:r>
          </a:p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Review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Support the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comparison of data by 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arm or study design. 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Allow for the verification of planned (protocol) data versus actual (study data) captured data</a:t>
            </a:r>
          </a:p>
        </p:txBody>
      </p:sp>
      <p:sp>
        <p:nvSpPr>
          <p:cNvPr id="243" name="Rounded Rectangle 242">
            <a:extLst>
              <a:ext uri="{FF2B5EF4-FFF2-40B4-BE49-F238E27FC236}">
                <a16:creationId xmlns:a16="http://schemas.microsoft.com/office/drawing/2014/main" id="{9E8FB361-7C24-771C-7F5B-CFC07D829255}"/>
              </a:ext>
            </a:extLst>
          </p:cNvPr>
          <p:cNvSpPr/>
          <p:nvPr/>
        </p:nvSpPr>
        <p:spPr>
          <a:xfrm>
            <a:off x="29989584" y="17485727"/>
            <a:ext cx="5648915" cy="1491615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645922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TMF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Linking the protocol to the specification of milestones and essential documents</a:t>
            </a:r>
          </a:p>
          <a:p>
            <a:endParaRPr lang="en-GB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CE62CBCB-B650-208F-82F3-EE09BFDA4CCA}"/>
              </a:ext>
            </a:extLst>
          </p:cNvPr>
          <p:cNvSpPr/>
          <p:nvPr/>
        </p:nvSpPr>
        <p:spPr>
          <a:xfrm>
            <a:off x="8716911" y="4930113"/>
            <a:ext cx="2411947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RFP Process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Issue vendor, CRO and laboratory RFP process </a:t>
            </a:r>
          </a:p>
        </p:txBody>
      </p:sp>
      <p:sp>
        <p:nvSpPr>
          <p:cNvPr id="254" name="Rounded Rectangle 253">
            <a:extLst>
              <a:ext uri="{FF2B5EF4-FFF2-40B4-BE49-F238E27FC236}">
                <a16:creationId xmlns:a16="http://schemas.microsoft.com/office/drawing/2014/main" id="{7BD73869-8DA8-EFB1-B513-6A8B2C97CA96}"/>
              </a:ext>
            </a:extLst>
          </p:cNvPr>
          <p:cNvSpPr/>
          <p:nvPr/>
        </p:nvSpPr>
        <p:spPr>
          <a:xfrm>
            <a:off x="293792" y="10131723"/>
            <a:ext cx="2658403" cy="1771293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t">
            <a:spAutoFit/>
          </a:bodyPr>
          <a:lstStyle/>
          <a:p>
            <a:pPr algn="r"/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Past Protocols</a:t>
            </a:r>
          </a:p>
          <a:p>
            <a:pPr algn="r"/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digitalization of past protocols in support  of the development of new protocols</a:t>
            </a:r>
          </a:p>
        </p:txBody>
      </p:sp>
      <p:sp>
        <p:nvSpPr>
          <p:cNvPr id="287" name="Rounded Rectangle 286">
            <a:extLst>
              <a:ext uri="{FF2B5EF4-FFF2-40B4-BE49-F238E27FC236}">
                <a16:creationId xmlns:a16="http://schemas.microsoft.com/office/drawing/2014/main" id="{AAD26F3B-A155-60B5-40EF-EFC255624F52}"/>
              </a:ext>
            </a:extLst>
          </p:cNvPr>
          <p:cNvSpPr/>
          <p:nvPr/>
        </p:nvSpPr>
        <p:spPr>
          <a:xfrm>
            <a:off x="5503935" y="12615339"/>
            <a:ext cx="2303216" cy="1771293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17566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Protocol Authoring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The authoring of the protocol based on the synopsis and approved design</a:t>
            </a:r>
          </a:p>
        </p:txBody>
      </p:sp>
      <p:pic>
        <p:nvPicPr>
          <p:cNvPr id="311" name="Graphic 310" descr="User outline">
            <a:extLst>
              <a:ext uri="{FF2B5EF4-FFF2-40B4-BE49-F238E27FC236}">
                <a16:creationId xmlns:a16="http://schemas.microsoft.com/office/drawing/2014/main" id="{C05705FB-D3FA-5E56-8A1A-2F5B00440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6290" y="6515338"/>
            <a:ext cx="762907" cy="762907"/>
          </a:xfrm>
          <a:prstGeom prst="rect">
            <a:avLst/>
          </a:prstGeom>
        </p:spPr>
      </p:pic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09061814-7B52-96FA-38E6-BF26DB7653CF}"/>
              </a:ext>
            </a:extLst>
          </p:cNvPr>
          <p:cNvCxnSpPr>
            <a:cxnSpLocks/>
            <a:stCxn id="254" idx="3"/>
            <a:endCxn id="428" idx="2"/>
          </p:cNvCxnSpPr>
          <p:nvPr/>
        </p:nvCxnSpPr>
        <p:spPr>
          <a:xfrm>
            <a:off x="2952195" y="11017370"/>
            <a:ext cx="1518133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0590AEE3-8366-723E-4030-AA8B91867D52}"/>
              </a:ext>
            </a:extLst>
          </p:cNvPr>
          <p:cNvCxnSpPr>
            <a:cxnSpLocks/>
            <a:stCxn id="287" idx="0"/>
            <a:endCxn id="429" idx="4"/>
          </p:cNvCxnSpPr>
          <p:nvPr/>
        </p:nvCxnSpPr>
        <p:spPr>
          <a:xfrm flipH="1" flipV="1">
            <a:off x="6647708" y="11729646"/>
            <a:ext cx="7835" cy="885693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Rounded Rectangle 407">
            <a:extLst>
              <a:ext uri="{FF2B5EF4-FFF2-40B4-BE49-F238E27FC236}">
                <a16:creationId xmlns:a16="http://schemas.microsoft.com/office/drawing/2014/main" id="{5664B706-7E53-D289-16C6-0CEBC9971B05}"/>
              </a:ext>
            </a:extLst>
          </p:cNvPr>
          <p:cNvSpPr/>
          <p:nvPr/>
        </p:nvSpPr>
        <p:spPr>
          <a:xfrm>
            <a:off x="7417752" y="14915185"/>
            <a:ext cx="2181669" cy="1211937"/>
          </a:xfrm>
          <a:prstGeom prst="roundRect">
            <a:avLst>
              <a:gd name="adj" fmla="val 2312"/>
            </a:avLst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Ins="117566" rtlCol="0" anchor="t">
            <a:spAutoFit/>
          </a:bodyPr>
          <a:lstStyle/>
          <a:p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Detailed Design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Add in detail to the electronic study definition</a:t>
            </a:r>
          </a:p>
        </p:txBody>
      </p:sp>
      <p:pic>
        <p:nvPicPr>
          <p:cNvPr id="422" name="Graphic 421" descr="Building outline">
            <a:extLst>
              <a:ext uri="{FF2B5EF4-FFF2-40B4-BE49-F238E27FC236}">
                <a16:creationId xmlns:a16="http://schemas.microsoft.com/office/drawing/2014/main" id="{1CA39C08-14AB-F35D-1B46-2C51FDE20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597927" y="4332796"/>
            <a:ext cx="1678953" cy="1678953"/>
          </a:xfrm>
          <a:prstGeom prst="rect">
            <a:avLst/>
          </a:prstGeom>
        </p:spPr>
      </p:pic>
      <p:sp>
        <p:nvSpPr>
          <p:cNvPr id="428" name="Oval 427">
            <a:extLst>
              <a:ext uri="{FF2B5EF4-FFF2-40B4-BE49-F238E27FC236}">
                <a16:creationId xmlns:a16="http://schemas.microsoft.com/office/drawing/2014/main" id="{C5A4E4EB-847C-E466-EE81-7E7B19AE0F1B}"/>
              </a:ext>
            </a:extLst>
          </p:cNvPr>
          <p:cNvSpPr/>
          <p:nvPr/>
        </p:nvSpPr>
        <p:spPr>
          <a:xfrm>
            <a:off x="4470328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C83219C3-FAF3-9FF9-A453-871112BE56E1}"/>
              </a:ext>
            </a:extLst>
          </p:cNvPr>
          <p:cNvSpPr/>
          <p:nvPr/>
        </p:nvSpPr>
        <p:spPr>
          <a:xfrm>
            <a:off x="5944040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75695521-FE77-4683-5658-371F825B9542}"/>
              </a:ext>
            </a:extLst>
          </p:cNvPr>
          <p:cNvSpPr/>
          <p:nvPr/>
        </p:nvSpPr>
        <p:spPr>
          <a:xfrm>
            <a:off x="7417752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2DF3CA4E-6697-30F4-B5B8-0923C6E3F56D}"/>
              </a:ext>
            </a:extLst>
          </p:cNvPr>
          <p:cNvSpPr/>
          <p:nvPr/>
        </p:nvSpPr>
        <p:spPr>
          <a:xfrm>
            <a:off x="8891464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54F910D9-AE5B-A173-B684-A9E20C737464}"/>
              </a:ext>
            </a:extLst>
          </p:cNvPr>
          <p:cNvSpPr/>
          <p:nvPr/>
        </p:nvSpPr>
        <p:spPr>
          <a:xfrm>
            <a:off x="10365176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0EAA0212-EFE7-B865-75FB-04DF6C86EC6C}"/>
              </a:ext>
            </a:extLst>
          </p:cNvPr>
          <p:cNvSpPr/>
          <p:nvPr/>
        </p:nvSpPr>
        <p:spPr>
          <a:xfrm>
            <a:off x="11838888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E64815D4-F634-CDD4-84BB-53854037CE51}"/>
              </a:ext>
            </a:extLst>
          </p:cNvPr>
          <p:cNvSpPr/>
          <p:nvPr/>
        </p:nvSpPr>
        <p:spPr>
          <a:xfrm>
            <a:off x="13312600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5" name="Oval 434">
            <a:extLst>
              <a:ext uri="{FF2B5EF4-FFF2-40B4-BE49-F238E27FC236}">
                <a16:creationId xmlns:a16="http://schemas.microsoft.com/office/drawing/2014/main" id="{662FDEEE-9166-F446-7130-159E9C918825}"/>
              </a:ext>
            </a:extLst>
          </p:cNvPr>
          <p:cNvSpPr/>
          <p:nvPr/>
        </p:nvSpPr>
        <p:spPr>
          <a:xfrm>
            <a:off x="14786312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88F6FEB9-5A74-F1EC-DA3A-F5A27DB2D9AC}"/>
              </a:ext>
            </a:extLst>
          </p:cNvPr>
          <p:cNvSpPr/>
          <p:nvPr/>
        </p:nvSpPr>
        <p:spPr>
          <a:xfrm>
            <a:off x="16260024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7" name="Oval 436">
            <a:extLst>
              <a:ext uri="{FF2B5EF4-FFF2-40B4-BE49-F238E27FC236}">
                <a16:creationId xmlns:a16="http://schemas.microsoft.com/office/drawing/2014/main" id="{16F302C2-C55A-CEE4-CC6A-D4D9C400AB16}"/>
              </a:ext>
            </a:extLst>
          </p:cNvPr>
          <p:cNvSpPr/>
          <p:nvPr/>
        </p:nvSpPr>
        <p:spPr>
          <a:xfrm>
            <a:off x="17733736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8" name="Oval 437">
            <a:extLst>
              <a:ext uri="{FF2B5EF4-FFF2-40B4-BE49-F238E27FC236}">
                <a16:creationId xmlns:a16="http://schemas.microsoft.com/office/drawing/2014/main" id="{16022A4B-23CF-1F75-D0B8-394453ADEBB9}"/>
              </a:ext>
            </a:extLst>
          </p:cNvPr>
          <p:cNvSpPr/>
          <p:nvPr/>
        </p:nvSpPr>
        <p:spPr>
          <a:xfrm>
            <a:off x="19207448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F9D2CEFE-ADA7-798D-635A-508D83BB9529}"/>
              </a:ext>
            </a:extLst>
          </p:cNvPr>
          <p:cNvSpPr/>
          <p:nvPr/>
        </p:nvSpPr>
        <p:spPr>
          <a:xfrm>
            <a:off x="20681160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40" name="Oval 439">
            <a:extLst>
              <a:ext uri="{FF2B5EF4-FFF2-40B4-BE49-F238E27FC236}">
                <a16:creationId xmlns:a16="http://schemas.microsoft.com/office/drawing/2014/main" id="{E56BB93F-EDAB-4BE0-6282-946A55C0E488}"/>
              </a:ext>
            </a:extLst>
          </p:cNvPr>
          <p:cNvSpPr/>
          <p:nvPr/>
        </p:nvSpPr>
        <p:spPr>
          <a:xfrm>
            <a:off x="22154872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41" name="Oval 440">
            <a:extLst>
              <a:ext uri="{FF2B5EF4-FFF2-40B4-BE49-F238E27FC236}">
                <a16:creationId xmlns:a16="http://schemas.microsoft.com/office/drawing/2014/main" id="{B5F78101-0D1C-46C3-196F-D646950BF443}"/>
              </a:ext>
            </a:extLst>
          </p:cNvPr>
          <p:cNvSpPr/>
          <p:nvPr/>
        </p:nvSpPr>
        <p:spPr>
          <a:xfrm>
            <a:off x="23628584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42" name="Oval 441">
            <a:extLst>
              <a:ext uri="{FF2B5EF4-FFF2-40B4-BE49-F238E27FC236}">
                <a16:creationId xmlns:a16="http://schemas.microsoft.com/office/drawing/2014/main" id="{9322898E-A3E9-E17A-7A61-34F07E93DB12}"/>
              </a:ext>
            </a:extLst>
          </p:cNvPr>
          <p:cNvSpPr/>
          <p:nvPr/>
        </p:nvSpPr>
        <p:spPr>
          <a:xfrm>
            <a:off x="25102296" y="10305094"/>
            <a:ext cx="1407336" cy="142455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43" name="Oval 442">
            <a:extLst>
              <a:ext uri="{FF2B5EF4-FFF2-40B4-BE49-F238E27FC236}">
                <a16:creationId xmlns:a16="http://schemas.microsoft.com/office/drawing/2014/main" id="{CBAE7A32-FCB7-F690-2057-3D251AA01E3E}"/>
              </a:ext>
            </a:extLst>
          </p:cNvPr>
          <p:cNvSpPr/>
          <p:nvPr/>
        </p:nvSpPr>
        <p:spPr>
          <a:xfrm>
            <a:off x="26576011" y="10305094"/>
            <a:ext cx="1407336" cy="142455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pic>
        <p:nvPicPr>
          <p:cNvPr id="445" name="Graphic 444" descr="List outline">
            <a:extLst>
              <a:ext uri="{FF2B5EF4-FFF2-40B4-BE49-F238E27FC236}">
                <a16:creationId xmlns:a16="http://schemas.microsoft.com/office/drawing/2014/main" id="{346040BD-2A87-84FD-43A5-47ED75E8D8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33736" y="6030733"/>
            <a:ext cx="1276431" cy="1276431"/>
          </a:xfrm>
          <a:prstGeom prst="rect">
            <a:avLst/>
          </a:prstGeom>
        </p:spPr>
      </p:pic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C6CF5378-6946-3326-A343-A95D8CD9FF6B}"/>
              </a:ext>
            </a:extLst>
          </p:cNvPr>
          <p:cNvCxnSpPr>
            <a:stCxn id="10" idx="2"/>
            <a:endCxn id="428" idx="0"/>
          </p:cNvCxnSpPr>
          <p:nvPr/>
        </p:nvCxnSpPr>
        <p:spPr>
          <a:xfrm rot="16200000" flipH="1">
            <a:off x="4165383" y="9296480"/>
            <a:ext cx="1590975" cy="426251"/>
          </a:xfrm>
          <a:prstGeom prst="bentConnector3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Diamond 461">
            <a:extLst>
              <a:ext uri="{FF2B5EF4-FFF2-40B4-BE49-F238E27FC236}">
                <a16:creationId xmlns:a16="http://schemas.microsoft.com/office/drawing/2014/main" id="{023BC3FC-8ED1-4933-EE56-B3D4E982C0E0}"/>
              </a:ext>
            </a:extLst>
          </p:cNvPr>
          <p:cNvSpPr/>
          <p:nvPr/>
        </p:nvSpPr>
        <p:spPr>
          <a:xfrm>
            <a:off x="5644754" y="10744732"/>
            <a:ext cx="526943" cy="456136"/>
          </a:xfrm>
          <a:prstGeom prst="diamond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464" name="Elbow Connector 463">
            <a:extLst>
              <a:ext uri="{FF2B5EF4-FFF2-40B4-BE49-F238E27FC236}">
                <a16:creationId xmlns:a16="http://schemas.microsoft.com/office/drawing/2014/main" id="{DE01843C-AED7-B29C-6C69-2D23FC09E538}"/>
              </a:ext>
            </a:extLst>
          </p:cNvPr>
          <p:cNvCxnSpPr>
            <a:cxnSpLocks/>
            <a:stCxn id="429" idx="0"/>
            <a:endCxn id="170" idx="2"/>
          </p:cNvCxnSpPr>
          <p:nvPr/>
        </p:nvCxnSpPr>
        <p:spPr>
          <a:xfrm rot="5400000" flipH="1" flipV="1">
            <a:off x="5205911" y="8688167"/>
            <a:ext cx="3058724" cy="175131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Elbow Connector 467">
            <a:extLst>
              <a:ext uri="{FF2B5EF4-FFF2-40B4-BE49-F238E27FC236}">
                <a16:creationId xmlns:a16="http://schemas.microsoft.com/office/drawing/2014/main" id="{47354F30-8F7D-2A86-BAD4-96C9C0BD3CAE}"/>
              </a:ext>
            </a:extLst>
          </p:cNvPr>
          <p:cNvCxnSpPr>
            <a:cxnSpLocks/>
            <a:stCxn id="408" idx="0"/>
            <a:endCxn id="430" idx="4"/>
          </p:cNvCxnSpPr>
          <p:nvPr/>
        </p:nvCxnSpPr>
        <p:spPr>
          <a:xfrm rot="16200000" flipV="1">
            <a:off x="6722235" y="13128832"/>
            <a:ext cx="3185539" cy="387167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Diamond 471">
            <a:extLst>
              <a:ext uri="{FF2B5EF4-FFF2-40B4-BE49-F238E27FC236}">
                <a16:creationId xmlns:a16="http://schemas.microsoft.com/office/drawing/2014/main" id="{B189A477-5FA8-6AFC-4FCD-9C5F9C541965}"/>
              </a:ext>
            </a:extLst>
          </p:cNvPr>
          <p:cNvSpPr/>
          <p:nvPr/>
        </p:nvSpPr>
        <p:spPr>
          <a:xfrm>
            <a:off x="7154280" y="10744732"/>
            <a:ext cx="526943" cy="456136"/>
          </a:xfrm>
          <a:prstGeom prst="diamond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473" name="Diamond 472">
            <a:extLst>
              <a:ext uri="{FF2B5EF4-FFF2-40B4-BE49-F238E27FC236}">
                <a16:creationId xmlns:a16="http://schemas.microsoft.com/office/drawing/2014/main" id="{FA7D2F58-ABA0-AE9A-FB79-1A8BABB5B802}"/>
              </a:ext>
            </a:extLst>
          </p:cNvPr>
          <p:cNvSpPr/>
          <p:nvPr/>
        </p:nvSpPr>
        <p:spPr>
          <a:xfrm>
            <a:off x="8608608" y="10744732"/>
            <a:ext cx="526943" cy="456136"/>
          </a:xfrm>
          <a:prstGeom prst="diamond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475" name="Elbow Connector 474">
            <a:extLst>
              <a:ext uri="{FF2B5EF4-FFF2-40B4-BE49-F238E27FC236}">
                <a16:creationId xmlns:a16="http://schemas.microsoft.com/office/drawing/2014/main" id="{043A7CD1-AEC7-33B5-E0CA-3A17FE23D4E0}"/>
              </a:ext>
            </a:extLst>
          </p:cNvPr>
          <p:cNvCxnSpPr>
            <a:cxnSpLocks/>
            <a:stCxn id="430" idx="0"/>
            <a:endCxn id="251" idx="1"/>
          </p:cNvCxnSpPr>
          <p:nvPr/>
        </p:nvCxnSpPr>
        <p:spPr>
          <a:xfrm rot="5400000" flipH="1" flipV="1">
            <a:off x="6034659" y="7622843"/>
            <a:ext cx="4769012" cy="595491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Elbow Connector 478">
            <a:extLst>
              <a:ext uri="{FF2B5EF4-FFF2-40B4-BE49-F238E27FC236}">
                <a16:creationId xmlns:a16="http://schemas.microsoft.com/office/drawing/2014/main" id="{8D481165-71E1-6653-E097-31C2DD2DD210}"/>
              </a:ext>
            </a:extLst>
          </p:cNvPr>
          <p:cNvCxnSpPr>
            <a:cxnSpLocks/>
            <a:stCxn id="430" idx="0"/>
            <a:endCxn id="200" idx="1"/>
          </p:cNvCxnSpPr>
          <p:nvPr/>
        </p:nvCxnSpPr>
        <p:spPr>
          <a:xfrm rot="5400000" flipH="1" flipV="1">
            <a:off x="6691424" y="8279608"/>
            <a:ext cx="3455482" cy="595491"/>
          </a:xfrm>
          <a:prstGeom prst="bentConnector2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170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7D794EB48E7144959FE534A5ED3D9A" ma:contentTypeVersion="13" ma:contentTypeDescription="Create a new document." ma:contentTypeScope="" ma:versionID="332ebed6bf1f21540ac8ed4139e2af2e">
  <xsd:schema xmlns:xsd="http://www.w3.org/2001/XMLSchema" xmlns:xs="http://www.w3.org/2001/XMLSchema" xmlns:p="http://schemas.microsoft.com/office/2006/metadata/properties" xmlns:ns2="98eacbea-7562-4a40-a7f2-e999cdc0cec5" xmlns:ns3="75bf9804-c18d-470a-a27f-eeaf4abcd247" targetNamespace="http://schemas.microsoft.com/office/2006/metadata/properties" ma:root="true" ma:fieldsID="9643d50ff51ef4e8f7efba950a0a6c6b" ns2:_="" ns3:_="">
    <xsd:import namespace="98eacbea-7562-4a40-a7f2-e999cdc0cec5"/>
    <xsd:import namespace="75bf9804-c18d-470a-a27f-eeaf4abcd2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eacbea-7562-4a40-a7f2-e999cdc0ce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6b7e412-6c7f-44cd-93fc-1283bc8f8f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f9804-c18d-470a-a27f-eeaf4abcd24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2440c8f-637a-4f66-b4f6-bf5ca76e88b3}" ma:internalName="TaxCatchAll" ma:showField="CatchAllData" ma:web="75bf9804-c18d-470a-a27f-eeaf4abcd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8eacbea-7562-4a40-a7f2-e999cdc0cec5">
      <Terms xmlns="http://schemas.microsoft.com/office/infopath/2007/PartnerControls"/>
    </lcf76f155ced4ddcb4097134ff3c332f>
    <TaxCatchAll xmlns="75bf9804-c18d-470a-a27f-eeaf4abcd247" xsi:nil="true"/>
  </documentManagement>
</p:properties>
</file>

<file path=customXml/itemProps1.xml><?xml version="1.0" encoding="utf-8"?>
<ds:datastoreItem xmlns:ds="http://schemas.openxmlformats.org/officeDocument/2006/customXml" ds:itemID="{7D880353-A811-4A5E-ACC7-78B678F869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4B6344-9988-4B81-A67B-403A5F7975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eacbea-7562-4a40-a7f2-e999cdc0cec5"/>
    <ds:schemaRef ds:uri="75bf9804-c18d-470a-a27f-eeaf4abcd2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08C028-DB74-4132-93E9-98A6B8817B9A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75bf9804-c18d-470a-a27f-eeaf4abcd247"/>
    <ds:schemaRef ds:uri="98eacbea-7562-4a40-a7f2-e999cdc0cec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</TotalTime>
  <Words>1358</Words>
  <Application>Microsoft Macintosh PowerPoint</Application>
  <PresentationFormat>Custom</PresentationFormat>
  <Paragraphs>217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Johannes Ulander</dc:creator>
  <cp:lastModifiedBy>Dave Iberson-Hurst</cp:lastModifiedBy>
  <cp:revision>14</cp:revision>
  <cp:lastPrinted>2024-09-29T07:41:48Z</cp:lastPrinted>
  <dcterms:created xsi:type="dcterms:W3CDTF">2024-08-29T12:40:07Z</dcterms:created>
  <dcterms:modified xsi:type="dcterms:W3CDTF">2025-11-13T05:05:26Z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0x010100D47D794EB48E7144959FE534A5ED3D9A</vt:lpwstr>
  </property>
  <property fmtid="{D5CDD505-2E9C-101B-9397-08002B2CF9AE}" pid="3" name="MediaServiceImageTags">
    <vt:lpwstr/>
  </property>
</Properties>
</file>